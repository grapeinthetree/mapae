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6928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GASOK 2026 · TRACK 3 — GIWA-NATIVE IDEAS</a:t>
            </a:r>
            <a:endParaRPr lang="en-US" sz="1100" dirty="0"/>
          </a:p>
        </p:txBody>
      </p:sp>
      <p:pic>
        <p:nvPicPr>
          <p:cNvPr id="3" name="Image 0" descr="/Users/ahn_euijin/mapae/docs/pitch/assets/mark-b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8676" y="1298448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788920"/>
            <a:ext cx="12188952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마패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0" y="3767328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600" kern="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 A P A 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0" y="4370832"/>
            <a:ext cx="121889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지갑을 주지 마세요.  범위를 정한 권한만 주세요.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0" y="4828032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 결제의 권한 레이어 — 실명 신원에 뿌리내린 위임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594360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mapae.pages.dev</a:t>
            </a:r>
            <a:pPr algn="ctr"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npx mapae-mcp</a:t>
            </a:r>
            <a:pPr algn="ctr" indent="0" marL="0">
              <a:buNone/>
            </a:pPr>
            <a:r>
              <a:rPr lang="en-US" sz="125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GIWA Sepolia 91342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PROBLEM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AI에게 돈을 맡길 방법이 없다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온체인 지갑에는 부분 권한이라는 개념이 없다. 오늘의 선택지는 둘뿐이다.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148840"/>
            <a:ext cx="5065776" cy="2331720"/>
          </a:xfrm>
          <a:prstGeom prst="roundRect">
            <a:avLst>
              <a:gd name="adj" fmla="val 3529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07008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✕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207008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개인키를 통째로 준다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207008" y="354787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지갑 열쇠를 넘기는 것 외에 방법이 없다.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한도도, 대상도, 기한도 걸 수 없다.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0216" y="2148840"/>
            <a:ext cx="5065776" cy="2331720"/>
          </a:xfrm>
          <a:prstGeom prst="roundRect">
            <a:avLst>
              <a:gd name="adj" fmla="val 3529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248716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✕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84264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남에게 맡긴다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684264" y="3547872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수탁형 에이전트 지갑.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회사를 믿어야 하고, 제3자는 검증할 수 없다.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9834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아무도 안 준다</a:t>
            </a:r>
            <a:pPr indent="0" marL="0">
              <a:buNone/>
            </a:pPr>
            <a:r>
              <a:rPr lang="en-US" sz="170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병목은 수요가 아니라 신뢰다.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ACCOUNTABILITY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한도를 걸어도 남는 질문 — 사고가 나면 누구 책임인가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0543032" cy="1572768"/>
          </a:xfrm>
          <a:prstGeom prst="roundRect">
            <a:avLst>
              <a:gd name="adj" fmla="val 5233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07008" y="1993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다른 체인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07008" y="22860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결제  →  0x7a3f…  →  ?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207008" y="2798064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책임 주체를 특정할 수 없다. 특정할 수 없으면, 보험 인수도 불가능하다.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11880"/>
            <a:ext cx="10543032" cy="1627632"/>
          </a:xfrm>
          <a:prstGeom prst="roundRect">
            <a:avLst>
              <a:gd name="adj" fmla="val 5056"/>
            </a:avLst>
          </a:prstGeom>
          <a:solidFill>
            <a:srgbClr val="191815"/>
          </a:solidFill>
          <a:ln w="9525">
            <a:solidFill>
              <a:srgbClr val="6B4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382219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기와 + 마패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07008" y="4114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결제  →  </a:t>
            </a:r>
            <a:pPr indent="0" marL="0">
              <a:buNone/>
            </a:pPr>
            <a:r>
              <a:rPr lang="en-US" sz="1900" b="1" dirty="0">
                <a:solidFill>
                  <a:srgbClr val="E9E4D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마패</a:t>
            </a:r>
            <a:pPr indent="0" marL="0">
              <a:buNone/>
            </a:pPr>
            <a:r>
              <a:rPr lang="en-US" sz="190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→  </a:t>
            </a:r>
            <a:pPr indent="0" marL="0">
              <a:buNone/>
            </a:pPr>
            <a:r>
              <a:rPr lang="en-US" sz="1900" b="1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도장</a:t>
            </a:r>
            <a:pPr indent="0" marL="0">
              <a:buNone/>
            </a:pPr>
            <a:r>
              <a:rPr lang="en-US" sz="190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→  </a:t>
            </a:r>
            <a:pPr indent="0" marL="0">
              <a:buNone/>
            </a:pPr>
            <a:r>
              <a:rPr lang="en-US" sz="1900" b="1" dirty="0">
                <a:solidFill>
                  <a:srgbClr val="E9E4D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실명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207008" y="4645152"/>
            <a:ext cx="9774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결제가 실존하는 사람에게 귀속된다. 그때 비로소, 인수 가능한 위험이 된다.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74243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역추적은 저장된 기록이 아니라 체인을 다시 읽어 증명한다 — pnpm trace 한 번이면 결제에서 실명까지.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THE SURVEY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감사된 위임 조건 38개를 전수 조사했다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MetaMask delegation-framework — ERC-7710 표준의 최대 구현체 — 의 caveat enforcer 실측.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38</a:t>
            </a:r>
            <a:endParaRPr lang="en-US" sz="13000" dirty="0"/>
          </a:p>
        </p:txBody>
      </p:sp>
      <p:sp>
        <p:nvSpPr>
          <p:cNvPr id="8" name="Text 6"/>
          <p:cNvSpPr/>
          <p:nvPr/>
        </p:nvSpPr>
        <p:spPr>
          <a:xfrm>
            <a:off x="822960" y="3913632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금액 · 기간 · 스트리밍 · 허용 타겟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 메서드 · 시간 범위 · 호출 횟수 — 전부 있다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92240" y="18288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3000" dirty="0"/>
          </a:p>
        </p:txBody>
      </p:sp>
      <p:sp>
        <p:nvSpPr>
          <p:cNvPr id="10" name="Text 8"/>
          <p:cNvSpPr/>
          <p:nvPr/>
        </p:nvSpPr>
        <p:spPr>
          <a:xfrm>
            <a:off x="6537960" y="39136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그중, 신원을 조건으로 거는 것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37960" y="43159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체인에는 게이트할 신원이 없기 때문이다.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138928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37개는 감사본 그대로 우리 매니저에서 돈다 — 우리는 표준을 발명하지 않는다.
</a:t>
            </a:r>
            <a:pPr indent="0" marL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표준은 지갑 중립이다. 기와 월렛이 채택하는 날, 같은 조건들이 그 안에서 돈다.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WHY GIWA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기와에는 게이트할 신원이 있다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라이선스 거래소가 발행자인 온체인 신원 — 도장. 이런 레이어를 가진 체인은 드물다.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2430018" cy="2103120"/>
          </a:xfrm>
          <a:prstGeom prst="roundRect">
            <a:avLst>
              <a:gd name="adj" fmla="val 3913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60604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도장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3090672"/>
            <a:ext cx="1881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3749040"/>
            <a:ext cx="1881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“누구인가”에 답한다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527298" y="2286000"/>
            <a:ext cx="2430018" cy="2103120"/>
          </a:xfrm>
          <a:prstGeom prst="roundRect">
            <a:avLst>
              <a:gd name="adj" fmla="val 3913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260604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UP.ID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801618" y="3090672"/>
            <a:ext cx="1881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01618" y="3749040"/>
            <a:ext cx="1881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“누구인가”에 답한다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31636" y="2286000"/>
            <a:ext cx="2430018" cy="2103120"/>
          </a:xfrm>
          <a:prstGeom prst="roundRect">
            <a:avLst>
              <a:gd name="adj" fmla="val 3913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5956" y="260604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보자기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05956" y="3090672"/>
            <a:ext cx="1881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프라이버시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05956" y="3749040"/>
            <a:ext cx="18813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“누구인가”에 답한다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935974" y="2286000"/>
            <a:ext cx="2430018" cy="2103120"/>
          </a:xfrm>
          <a:prstGeom prst="roundRect">
            <a:avLst>
              <a:gd name="adj" fmla="val 3913"/>
            </a:avLst>
          </a:prstGeom>
          <a:solidFill>
            <a:srgbClr val="211F1C"/>
          </a:solidFill>
          <a:ln w="15240">
            <a:solidFill>
              <a:srgbClr val="B984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0294" y="2606040"/>
            <a:ext cx="18813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마패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210294" y="3090672"/>
            <a:ext cx="18813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4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210294" y="3493008"/>
            <a:ext cx="1881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“누가 나 대신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움직일 수 있는가”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" y="48920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셋은 정적 사실이다. 권한은 발급되고, 소진되고, 만료되고, 취소되는 동적 상태다 — 비어 있던 네 번째 칸.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THE NAME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한도가 청동에 새겨져 있었다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이름을 빌린 게 아니라, 설계를 빌렸다.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48840"/>
            <a:ext cx="3977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마패는 상서원이 발급한 구리 패다. 뒷면에 새겨진 말의 수가 곧 역참에서 징발할 수 있는 말의 수 — 품계에 따라 차등 지급됐다. 왕은 십마패, 영의정은 칠마패를 썼다는 기록이 남아 있고, 현존 유물은 일마패에서 오마패까지다.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관원의 신분 증명을 겸했고, 암행어사의 상징이 되었다.</a:t>
            </a:r>
            <a:endParaRPr lang="en-US" sz="1300" dirty="0"/>
          </a:p>
        </p:txBody>
      </p:sp>
      <p:pic>
        <p:nvPicPr>
          <p:cNvPr id="8" name="Image 0" descr="/Users/ahn_euijin/mapae/docs/pitch/assets/mark-bronze.pn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tretch>
            <a:fillRect/>
          </a:stretch>
        </p:blipFill>
        <p:spPr>
          <a:xfrm>
            <a:off x="841248" y="5074920"/>
            <a:ext cx="777240" cy="77724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2148840"/>
          <a:ext cx="60807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54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D9AB7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조선의 마패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E4D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오늘의 마패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신원이 검증된 관원에게만 발급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도장 보유자의 서명으로만 발급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말의 수 = 권한의 크기, 품계별 차등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서명된 한도 = 권한의 크기, 정책별 차등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역참이 사용 시점에 패를 확인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enforcer가 결제 시점에 조건을 확인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삼마패로 네 필은 못 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캡을 넘는 1원도 거부된다 (실제 tx)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임무와 기한이 정해져 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수취인과 만료가 서명에 박혀 있다</a:t>
                      </a:r>
                      <a:endParaRPr lang="en-US" sz="11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9728" marR="109728" marT="54864" marB="54864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HOW IT WORKS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강제는 프롬프트가 아니라 컨트랙트가 한다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874520"/>
            <a:ext cx="2286000" cy="1188720"/>
          </a:xfrm>
          <a:prstGeom prst="roundRect">
            <a:avLst>
              <a:gd name="adj" fmla="val 6923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실명 이용자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25054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도장 보유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40964" y="2286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84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575304" y="1874520"/>
            <a:ext cx="2286000" cy="1188720"/>
          </a:xfrm>
          <a:prstGeom prst="roundRect">
            <a:avLst>
              <a:gd name="adj" fmla="val 6923"/>
            </a:avLst>
          </a:prstGeom>
          <a:solidFill>
            <a:srgbClr val="211F1C"/>
          </a:solidFill>
          <a:ln w="9525">
            <a:solidFill>
              <a:srgbClr val="6B45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803904" y="25054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서명 · 무료 · 무흔적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93308" y="2286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84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27648" y="1874520"/>
            <a:ext cx="2286000" cy="1188720"/>
          </a:xfrm>
          <a:prstGeom prst="roundRect">
            <a:avLst>
              <a:gd name="adj" fmla="val 6923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56248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56248" y="25054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위임 실행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45652" y="2286000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84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079992" y="1874520"/>
            <a:ext cx="2286000" cy="1188720"/>
          </a:xfrm>
          <a:prstGeom prst="roundRect">
            <a:avLst>
              <a:gd name="adj" fmla="val 6923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08592" y="2084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08592" y="25054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온체인 정산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356616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사고가 나면   </a:t>
            </a:r>
            <a:pPr indent="0" marL="0">
              <a:buNone/>
            </a:pPr>
            <a:r>
              <a:rPr lang="en-US" sz="14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 기록에서 거꾸로 타고 올라가 실명까지 닿는다.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4078224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재위임하면   </a:t>
            </a:r>
            <a:pPr indent="0" marL="0">
              <a:buNone/>
            </a:pPr>
            <a:r>
              <a:rPr lang="en-US" sz="14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좁히기만 가능하고, 루트의 킬스위치가 사슬 전체를 관통한다.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459028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신원이 취소되면   </a:t>
            </a:r>
            <a:pPr indent="0" marL="0">
              <a:buNone/>
            </a:pPr>
            <a:r>
              <a:rPr lang="en-US" sz="14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결제부터 전부 거부된다 — 트랜잭션 없이, 즉시.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52578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자원에 IAM이 있듯, 에이전트 지출에 IAM — 단, 역할표도 관리자도 없이, 서명으로.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58064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ERC-7710 · ERC-7715 · x402 v2 erc7710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KILL SWITCHES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개의 스위치 — 서로 독립, 각각 가역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네 장면 전부 GIWA Sepolia 라이브 트랜잭션이다. 익스플로러에서 각 해시가 조건 단위로 추적된다.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084832"/>
            <a:ext cx="5088636" cy="1627632"/>
          </a:xfrm>
          <a:prstGeom prst="roundRect">
            <a:avLst>
              <a:gd name="adj" fmla="val 5056"/>
            </a:avLst>
          </a:prstGeom>
          <a:solidFill>
            <a:srgbClr val="191815"/>
          </a:solidFill>
          <a:ln w="9525">
            <a:solidFill>
              <a:srgbClr val="3A373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267712"/>
            <a:ext cx="3625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T5 · 위임 스위치 OFF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768596" y="226771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거부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43000" y="2706624"/>
            <a:ext cx="4448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484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CannotUseADisabledDelegation  ·  도장은 살아 있는데도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3163824"/>
            <a:ext cx="4448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0x0dbdc013…3325e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77356" y="2084832"/>
            <a:ext cx="5088636" cy="1627632"/>
          </a:xfrm>
          <a:prstGeom prst="roundRect">
            <a:avLst>
              <a:gd name="adj" fmla="val 5056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97396" y="2267712"/>
            <a:ext cx="3625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T6 · 위임 스위치 ON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0222992" y="226771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4CBD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재개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97396" y="2706624"/>
            <a:ext cx="4448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리셋이 아니라 재개 — 남은 한도부터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97396" y="3163824"/>
            <a:ext cx="4448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0xd0b461f6…db389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4005072"/>
            <a:ext cx="5088636" cy="1627632"/>
          </a:xfrm>
          <a:prstGeom prst="roundRect">
            <a:avLst>
              <a:gd name="adj" fmla="val 5056"/>
            </a:avLst>
          </a:prstGeom>
          <a:solidFill>
            <a:srgbClr val="191815"/>
          </a:solidFill>
          <a:ln w="9525">
            <a:solidFill>
              <a:srgbClr val="3A37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" y="4187952"/>
            <a:ext cx="3625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T7 · 도장 취소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768596" y="418795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43000" y="4626864"/>
            <a:ext cx="4448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5484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NotDojangVerified  ·  위임은 활성인데도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5084064"/>
            <a:ext cx="4448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0xd3843e1f…9ed65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77356" y="4005072"/>
            <a:ext cx="5088636" cy="1627632"/>
          </a:xfrm>
          <a:prstGeom prst="roundRect">
            <a:avLst>
              <a:gd name="adj" fmla="val 5056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97396" y="4187952"/>
            <a:ext cx="36255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T8 · 도장 재발급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0222992" y="4187952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4CBD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재개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597396" y="4626864"/>
            <a:ext cx="44485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신원 취소도 가역이다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97396" y="5084064"/>
            <a:ext cx="44485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0x250b424e…04217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신원 스위치는 트랜잭션 없이, 그 사람의 모든 마패를 한 번에 멈춘다.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THE POINT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조건이 멀쩡한데, 실패한다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BD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25880" y="19842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서명은 유효하다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5328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BD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25880" y="255117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한도는 아직 남았다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309981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BD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25880" y="311810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기한도 지나지 않았다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36667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BD9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✓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325880" y="36850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수취인도 허용 목록에 있다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537960" y="1920240"/>
            <a:ext cx="4828032" cy="2331720"/>
          </a:xfrm>
          <a:prstGeom prst="roundRect">
            <a:avLst>
              <a:gd name="adj" fmla="val 3529"/>
            </a:avLst>
          </a:prstGeom>
          <a:solidFill>
            <a:srgbClr val="211F1C"/>
          </a:solidFill>
          <a:ln w="9525">
            <a:solidFill>
              <a:srgbClr val="3A373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221284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✕  거부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903720" y="285292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484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NotDojangVerified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3273552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실명 증명이 취소되었다는 이유,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하나로 결제가 막힌다.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822960" y="489204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이것이 우리가 파는 것이다 — </a:t>
            </a:r>
            <a:pPr indent="0" marL="0">
              <a:buNone/>
            </a:pPr>
            <a:r>
              <a:rPr lang="en-US" sz="17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결제가 되는 것이 아니라, 안 되는 것.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" y="55321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T7  0xd3843e1f…9ed65   ·   mapae.pages.dev/tx/0xd3843e1f… 에서 조건 단위로 추적된다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LIVE PRODUCT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접속 가능한 제품 — 백엔드 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mapae.pages.dev — 페이지의 모든 값은 저장된 데이터가 아니라, 방문자의 브라우저가 방금 체인에서 읽은 것이다.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103120"/>
            <a:ext cx="3331464" cy="2743200"/>
          </a:xfrm>
          <a:prstGeom prst="roundRect">
            <a:avLst>
              <a:gd name="adj" fmla="val 3000"/>
            </a:avLst>
          </a:prstGeom>
          <a:solidFill>
            <a:srgbClr val="E9E4DA"/>
          </a:solidFill>
          <a:ln w="9525">
            <a:solidFill>
              <a:srgbClr val="E9E4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28600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873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발급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97280" y="2670048"/>
            <a:ext cx="278282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11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에이전트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11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지정한 사용처에 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8A5A3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 최대 ₩30,000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11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까지, 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111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8월 29일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11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까지 결제할 수 있습니다 — 당신의 </a:t>
            </a:r>
            <a:pPr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8A5A3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도장이 유효한 동안</a:t>
            </a:r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11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에만.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434340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736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서명은 무료 · 트랜잭션도 가스도 없음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28744" y="2103120"/>
            <a:ext cx="3331464" cy="2743200"/>
          </a:xfrm>
          <a:prstGeom prst="roundRect">
            <a:avLst>
              <a:gd name="adj" fmla="val 3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3064" y="228600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내 권한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03064" y="2706624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사용 ₩3,750</a:t>
            </a:r>
            <a:pPr indent="0" marL="0">
              <a:buNone/>
            </a:pPr>
            <a:r>
              <a:rPr lang="en-US" sz="115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/  ₩5,000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03064" y="3072384"/>
            <a:ext cx="2782824" cy="82296"/>
          </a:xfrm>
          <a:prstGeom prst="roundRect">
            <a:avLst>
              <a:gd name="adj" fmla="val 44444"/>
            </a:avLst>
          </a:prstGeom>
          <a:solidFill>
            <a:srgbClr val="211F1C"/>
          </a:solidFill>
          <a:ln/>
        </p:spPr>
      </p:sp>
      <p:sp>
        <p:nvSpPr>
          <p:cNvPr id="15" name="Shape 13"/>
          <p:cNvSpPr/>
          <p:nvPr/>
        </p:nvSpPr>
        <p:spPr>
          <a:xfrm>
            <a:off x="4703064" y="3072384"/>
            <a:ext cx="2087118" cy="82296"/>
          </a:xfrm>
          <a:prstGeom prst="roundRect">
            <a:avLst>
              <a:gd name="adj" fmla="val 44444"/>
            </a:avLst>
          </a:prstGeom>
          <a:solidFill>
            <a:srgbClr val="B98450"/>
          </a:solidFill>
          <a:ln/>
        </p:spPr>
      </p:sp>
      <p:sp>
        <p:nvSpPr>
          <p:cNvPr id="16" name="Shape 14"/>
          <p:cNvSpPr/>
          <p:nvPr/>
        </p:nvSpPr>
        <p:spPr>
          <a:xfrm>
            <a:off x="4703064" y="3474720"/>
            <a:ext cx="1234440" cy="384048"/>
          </a:xfrm>
          <a:prstGeom prst="roundRect">
            <a:avLst>
              <a:gd name="adj" fmla="val 14286"/>
            </a:avLst>
          </a:prstGeom>
          <a:solidFill>
            <a:srgbClr val="191815"/>
          </a:solidFill>
          <a:ln w="9525">
            <a:solidFill>
              <a:srgbClr val="E548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03064" y="3474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비활성화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3064" y="4041648"/>
            <a:ext cx="27828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스위치는 실제 트랜잭션 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결제부터 즉시 거부된다.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34528" y="2103120"/>
            <a:ext cx="3331464" cy="2743200"/>
          </a:xfrm>
          <a:prstGeom prst="roundRect">
            <a:avLst>
              <a:gd name="adj" fmla="val 3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08848" y="228600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권한 추적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08848" y="2670048"/>
            <a:ext cx="2782824" cy="960120"/>
          </a:xfrm>
          <a:prstGeom prst="roundRect">
            <a:avLst>
              <a:gd name="adj" fmla="val 5714"/>
            </a:avLst>
          </a:prstGeom>
          <a:solidFill>
            <a:srgbClr val="211F1C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73440" y="2779776"/>
            <a:ext cx="245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지출 한도      </a:t>
            </a:r>
            <a:pPr indent="0" marL="0">
              <a:buNone/>
            </a:pPr>
            <a:r>
              <a:rPr lang="en-US" sz="900" dirty="0">
                <a:solidFill>
                  <a:srgbClr val="E548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조건이 거부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73440" y="3127248"/>
            <a:ext cx="2453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5484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transfer-amount-exceeded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08848" y="3858768"/>
            <a:ext cx="2782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거부한 조건을 위임 사슬 안에서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지목한다 — 사유까지 사람의 말로.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22960" y="523036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왕복 4건(P1–P4)은 사람이 MetaMask로 서명했다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스크립트의 자작극이 아니라 제품 경로의 증명. 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발급만 되고 안 쓰인 마패는 체인에 없다 — 발급은 흔적 없는 무료 서명이다.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AGENT-NATIVE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MCP를 말하는 모든 에이전트가, 이미 클라이언트다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691640"/>
            <a:ext cx="4754880" cy="566928"/>
          </a:xfrm>
          <a:prstGeom prst="roundRect">
            <a:avLst>
              <a:gd name="adj" fmla="val 12903"/>
            </a:avLst>
          </a:prstGeom>
          <a:solidFill>
            <a:srgbClr val="211F1C"/>
          </a:solidFill>
          <a:ln w="9525">
            <a:solidFill>
              <a:srgbClr val="3A37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9164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9E4D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  npx mapae-mcp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06440" y="1810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npm 공개 발행 · Claude / Cursor / GPT 공통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request_permission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91840" y="26151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구성해 사람에게 서명 링크를 건넨다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3063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load_context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30723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사람이 서명한 권한을 대화 안에서 인계받는다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3520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91840" y="35295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서명된 정책 안에서만 결제한다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check_budget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39867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한도를 enforcer에서 읽는다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4434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redelegate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444398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더 좁은 권한을 하위 에이전트에 서명한다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495604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strike="sngStrike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issue</a:t>
            </a:r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— 없다. 발급은 사람의 서명이다. 그 키를 쥐는 순간, AI가 지갑을 쥔다.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2606040"/>
            <a:ext cx="4416552" cy="2651760"/>
          </a:xfrm>
          <a:prstGeom prst="roundRect">
            <a:avLst>
              <a:gd name="adj" fmla="val 3103"/>
            </a:avLst>
          </a:prstGeom>
          <a:solidFill>
            <a:srgbClr val="211F1C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78040" y="2788920"/>
            <a:ext cx="3977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 "status":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CBD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"PAID"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
  "remainingThisPeriod": "₩1,300" }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 "status":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"REFUSED"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"reason": "transfer-amount-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exceeded" }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49440" y="5349240"/>
            <a:ext cx="4434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거부는 에러가 아니라 사유를 실은 결과다 — 에이전트가 읽고, 사람에게 설명한다.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59436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pay의 수취인은 인자가 아니라 서명된 정책에서 나온다 — 프롬프트 인젝션으로도, 다른 주소로는 못 보낸다.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SETTLEMENT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GIWA에서 실제로 동작하는 x402 결제 경로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에이전트가 유료 API를 만나면 — 사람 개입 없이 결제하고, 응답을 받는다.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103120"/>
            <a:ext cx="1810512" cy="713232"/>
          </a:xfrm>
          <a:prstGeom prst="roundRect">
            <a:avLst>
              <a:gd name="adj" fmla="val 11538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10312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402 응답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578608" y="2267712"/>
            <a:ext cx="482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006090" y="2103120"/>
            <a:ext cx="1810512" cy="713232"/>
          </a:xfrm>
          <a:prstGeom prst="roundRect">
            <a:avLst>
              <a:gd name="adj" fmla="val 11538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06090" y="210312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 payload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761738" y="2267712"/>
            <a:ext cx="482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89220" y="2103120"/>
            <a:ext cx="1810512" cy="713232"/>
          </a:xfrm>
          <a:prstGeom prst="roundRect">
            <a:avLst>
              <a:gd name="adj" fmla="val 11538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89220" y="210312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/verify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944868" y="2267712"/>
            <a:ext cx="482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72350" y="2103120"/>
            <a:ext cx="1810512" cy="713232"/>
          </a:xfrm>
          <a:prstGeom prst="roundRect">
            <a:avLst>
              <a:gd name="adj" fmla="val 11538"/>
            </a:avLst>
          </a:prstGeom>
          <a:solidFill>
            <a:srgbClr val="211F1C"/>
          </a:solidFill>
          <a:ln w="9525">
            <a:solidFill>
              <a:srgbClr val="6B45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2350" y="210312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/settle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27998" y="2267712"/>
            <a:ext cx="482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555480" y="2103120"/>
            <a:ext cx="1810512" cy="713232"/>
          </a:xfrm>
          <a:prstGeom prst="roundRect">
            <a:avLst>
              <a:gd name="adj" fmla="val 11538"/>
            </a:avLst>
          </a:prstGeom>
          <a:solidFill>
            <a:srgbClr val="211F1C"/>
          </a:solidFill>
          <a:ln w="9525">
            <a:solidFill>
              <a:srgbClr val="6B45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55480" y="2103120"/>
            <a:ext cx="18105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다시 /settle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22960" y="333756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payload, 정산 두 번.</a:t>
            </a:r>
            <a:pPr indent="0" marL="0">
              <a:buNone/>
            </a:pPr>
            <a:r>
              <a:rPr lang="en-US" sz="140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exact 스킴 세 방식 중 유일한 multi-use — 구독·미터링이 가능한 이유.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822960" y="393192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F3  0x9fbe7b2b…c2422      F4  0x8a1fba25…c2db6      가스는 정산자가 낸다 — 에이전트는 payload만 건넨다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2960" y="452628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정산자는 조건도 도장도 모른다 — 정책 엔진 전체가 온체인이므로, 알 필요도 속일 방법도 없다.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01768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GIWA에는 EIP-3009 토큰이 없어 다른 두 방식은 애초에 불가하다 — 우리가 실측해 문서화한 격차다.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5477256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재위임 2홉 체인으로 정산된다 — 루트 위임자의 킬스위치가 정산 경로까지 관통한다.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SHIPPED, NOT PROMISED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약속이 아니라, 배포된 것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7157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배포·전수 소스 검증 컨트랙트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458718" y="18745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153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458718" y="27157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· invariant 포함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094476" y="18745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 / 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094476" y="27157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Slither 고 · 중 심각도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30234" y="18745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25+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8730234" y="27157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라이브 트랜잭션 · 거부 포함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22960" y="43159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언어 바이트 패리티 (Sol·TS·Go)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58718" y="34747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3458718" y="43159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npm 패키지 — mapae-mcp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094476" y="34747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6094476" y="43159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공개 URL — mapae.pages.dev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730234" y="3474720"/>
            <a:ext cx="23614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730234" y="4315968"/>
            <a:ext cx="23157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백엔드 · 죽을 서버가 없다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22960" y="53492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검증이 실제로 잡은 결함 —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ModeLib 시프트 오류 4종(전부 통과하던 공허한 테스트 뒤에 숨어 있었다), 서명 페이로드 사본 드리프트, RPC 경쟁 조건. 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테스트의 수가 아니라, 테스트가 잡은 것을 센다.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SCOPE DISCIPLINE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만들지 않은 것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프리미티브는 작아야 꽂힌다 — 뺀 것 하나하나가 결정이다.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지갑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749040" y="2231136"/>
            <a:ext cx="7616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기와 월렛을 쓴다 — 대체가 아니라 탑재 대상이다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28163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스테이블코인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749040" y="2834640"/>
            <a:ext cx="7616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원화 스테이블을 기다린다 — 자산 불가지론으로 설계, 맨몸 ERC-20으로 실증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번들러 · 페이마스터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49040" y="3438144"/>
            <a:ext cx="7616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기와 인프라를 소비한다 — 실측으로 격차만 문서화했다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위임 표준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749040" y="4041648"/>
            <a:ext cx="7616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ERC-7710 · 7715를 채택한다 — 발명하지 않는다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462686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ERC-8004 레지스트리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749040" y="4645152"/>
            <a:ext cx="7616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퍼미션리스 자가 등록은 책임 사슬에 아무것도 보태지 않는다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230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 백엔드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49040" y="5248656"/>
            <a:ext cx="7616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권한의 존재는 체인만이 답한다 — 두 번째 진실 소스를 만들지 않는다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MARKET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신원은 나를 위한 것이 아니다 — 상대방을 위한 것이다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481328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나는 내가 누군지 안다. 모르는 것은, 내 에이전트의 결제를 받아주는 쪽이다.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286000"/>
            <a:ext cx="5088636" cy="1261872"/>
          </a:xfrm>
          <a:prstGeom prst="roundRect">
            <a:avLst>
              <a:gd name="adj" fmla="val 6522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2450592"/>
            <a:ext cx="4503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가맹점 수용성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5568" y="2816352"/>
            <a:ext cx="45034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환불과 분쟁의 상대가 될 실명이 사슬 끝에 있어야, 에이전트 결제를 받아준다.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77356" y="2286000"/>
            <a:ext cx="5088636" cy="1261872"/>
          </a:xfrm>
          <a:prstGeom prst="roundRect">
            <a:avLst>
              <a:gd name="adj" fmla="val 6522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9964" y="2450592"/>
            <a:ext cx="4503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규제 결제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69964" y="2816352"/>
            <a:ext cx="45034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트래블룰 · AML. 실명 규제가 도장을 만들었고, 같은 규제가 마패를 요구한다.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3767328"/>
            <a:ext cx="5088636" cy="1261872"/>
          </a:xfrm>
          <a:prstGeom prst="roundRect">
            <a:avLst>
              <a:gd name="adj" fmla="val 6522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3931920"/>
            <a:ext cx="4503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자격 연동 지출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15568" y="4297680"/>
            <a:ext cx="45034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법인 경비 · 복지 바우처. 자격 상실 = 발급기관의 취소 한 번 = 모든 지출 즉시 정지.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7356" y="3767328"/>
            <a:ext cx="5088636" cy="1261872"/>
          </a:xfrm>
          <a:prstGeom prst="roundRect">
            <a:avLst>
              <a:gd name="adj" fmla="val 6522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69964" y="3931920"/>
            <a:ext cx="45034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연령 · 적격 게이트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69964" y="4297680"/>
            <a:ext cx="45034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검증된 성인 · 적격투자자의 권한에서 온 결제만 수령하는 서비스.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22960" y="557784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실사용자 0 — 숨기지 않는다.  </a:t>
            </a:r>
            <a:pPr indent="0" marL="0">
              <a:buNone/>
            </a:pPr>
            <a:r>
              <a:rPr lang="en-US" sz="135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대신, 심사위원이 오늘 직접 심사할 수 있다: 접속 1분 · 발급 3분 · 설치 한 줄.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ROADMAP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선발부터 데모데이까지, 그리고 그 뒤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3246120" cy="1298448"/>
          </a:xfrm>
          <a:prstGeom prst="roundRect">
            <a:avLst>
              <a:gd name="adj" fmla="val 6338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19385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W1–2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097280" y="224942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기와 월렛팀과 ERC-7715 스위치 협의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결제를 MCP pay에 통합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71416" y="1783080"/>
            <a:ext cx="3246120" cy="1298448"/>
          </a:xfrm>
          <a:prstGeom prst="roundRect">
            <a:avLst>
              <a:gd name="adj" fmla="val 6338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45736" y="19385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W3–4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45736" y="224942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도장 조회 API 공개 — GIWA 최초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Ponder 인덱서 가동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19872" y="1783080"/>
            <a:ext cx="3246120" cy="1298448"/>
          </a:xfrm>
          <a:prstGeom prst="roundRect">
            <a:avLst>
              <a:gd name="adj" fmla="val 6338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9385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AB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W5–6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394192" y="2249424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코호트 팀 연동 · SDK 마찰 제거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KBW 데모데이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3310128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이후 — EIP-7702 경로(활성, 실측 완료) · 가스 대납(번들러 격차 해소 시) · localhost 콜백으로 복붙 없는 인계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지갑이 생기기 전에, 지갑의 언어를 먼저 구현했다 — 탑재는 통합이 아니라 스위치다.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4343400"/>
            <a:ext cx="10543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신원 발급자는 배포 상수가 아니라 서명되는 선택이다 — 도장 생태계가 자랄수록, 마패는 코드 변경 없이 넓어진다.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507492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7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기와는 신원과 이름과 프라이버시를 갖췄다. 권한은 아직 비어 있다.
</a:t>
            </a:r>
            <a:pPr indent="0" marL="0">
              <a:lnSpc>
                <a:spcPct val="140000"/>
              </a:lnSpc>
              <a:buNone/>
            </a:pPr>
            <a:r>
              <a:rPr lang="en-US" sz="17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마패는 그 칸을 채우는 위임 프리미티브다.</a:t>
            </a:r>
            <a:endParaRPr lang="en-US" sz="1700" dirty="0"/>
          </a:p>
        </p:txBody>
      </p:sp>
      <p:pic>
        <p:nvPicPr>
          <p:cNvPr id="19" name="Image 0" descr="/Users/ahn_euijin/mapae/docs/pitch/assets/mark-b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120640"/>
            <a:ext cx="777240" cy="77724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22960" y="6172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mapae.pages.dev   ·   npx mapae-mcp   ·   github.com/GrapeInTheTree/mapae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APPENDIX A — CONTRACTS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컨트랙트 전표 — 8개 전수 소스 검증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MapaeDelegationManager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977640" y="185623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 작성 · ERC-7710 호환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0" y="185623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0xfd0fCCCcF8071852783b5133b3CC47461f33e6Cd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34086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MapaeAccountFactory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977640" y="236829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 설계 · EIP-712 소유자 결박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0" y="236829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0x157aF4D7b3f52685c817d5558b3468caD9b61299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285292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DojangVerifiedEnforcer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77640" y="288036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어디에도 없던 조건 — 기여물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949440" y="2880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0xb2906a5079702B82C2973423d8cf91e8B41e6371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336499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AllowedPayeeEnforcer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977640" y="33924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어디에도 없던 조건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49440" y="33924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0x7eF0f193B721B1749d890F1e231C8074670f1bD1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387705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ERC20PeriodTransferEnforcer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977640" y="39044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MetaMask 감사본 무수정 vendored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390448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0xE33ba891fa502A075D3E422258723eF4cB6AC892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4389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TimestampEnforcer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977640" y="4416552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MetaMask 감사본 무수정 vendored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949440" y="441655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0x2911cB5D4aeBCa3e42FAaa5488b6e04df3C9cc02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490118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VerifiedCodeEnforcer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977640" y="4928616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★ 어디에도 없던 조건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949440" y="492861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0x1C640E0A70b1E18B120bB20952e81Df8F6b8650e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22960" y="541324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MockKRW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977640" y="544068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자체 작성 · 자산 불가지론의 placeholder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49440" y="544068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3AEA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0x8bd74916E3427B4eF8Bed3D2F49241056E5e4F2B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22960" y="587044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vendored 2건 외 여섯은 전부 자체 작성이다. ★는 저작 표시가 아니라 “배포된 어떤 프레임워크에도 없는 조건”이라는 주장이며 — 감사본이 무수정으로 도는 것 자체가 호환성 증명이다. 검증 상태는 pnpm check-verified 가 Blockscout API의 is_verified 로 매번 다시 확인한다.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APPENDIX B — LIVE TRANSACTIONS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트랜잭션 전표 — 거부가 절반이다</a:t>
            </a:r>
            <a:endParaRPr lang="en-US" sz="2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83080"/>
          <a:ext cx="1054303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577840"/>
                <a:gridCol w="1234440"/>
                <a:gridCol w="28163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T1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허용 수취인에 30,000 결제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CBD9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0xa01e6e86…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T2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한도 초과 +30,000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548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0xe7563dfa…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T3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허용 외 수취인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548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0x131e9744…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T4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업비트 도장 요구 (미보유)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548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0xfaf9880c…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T5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위임 비활성 중 결제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548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0x0dbdc013…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T6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재활성 후 결제 — 재개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CBD9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0xd0b461f6…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T7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도장 취소 후 결제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548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0xd3843e1f…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T8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도장 재발급 후 결제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CBD9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0x250b424e…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P1–P4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사람이 MetaMask로 서명한 왕복 (2 성공 · 2 거부)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548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0xf320b785… 외 3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F3–F4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x402 정산 2회 — 같은 payload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CBD9A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성공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0x9fbe7b2b… · 0x8a1fba25…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MCP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3AEA3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npx mapae-mcp 의 pay — 결제와 한도 초과 거부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5484D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PAID/REFUSED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17C73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0x0d7ded4b… · 0x3d64f498…</a:t>
                      </a:r>
                      <a:endParaRPr lang="en-US" sz="10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27432" marB="27432" anchor="ctr">
                    <a:lnL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292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81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822960" y="626364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전체 해시와 익스플로러 링크: github.com/GrapeInTheTree/mapae → docs/DEMO.md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APPENDIX C — ARCHITECTURE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아키텍처 — 정책 엔진 전체가 온체인이다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2377440" cy="914400"/>
          </a:xfrm>
          <a:prstGeom prst="roundRect">
            <a:avLst>
              <a:gd name="adj" fmla="val 9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02996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(principal)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235000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도장 보유 · EIP-712 서명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22960" y="3108960"/>
            <a:ext cx="2377440" cy="914400"/>
          </a:xfrm>
          <a:prstGeom prst="roundRect">
            <a:avLst>
              <a:gd name="adj" fmla="val 9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21868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 / MCP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5387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키 · 컨텍스트만 보유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4297680"/>
            <a:ext cx="2377440" cy="914400"/>
          </a:xfrm>
          <a:prstGeom prst="roundRect">
            <a:avLst>
              <a:gd name="adj" fmla="val 9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0740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정산자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47274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무지 · 무권한 · 가스 지불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1572768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984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─ 체인 경계 — 이 오른쪽이 전부다 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06240" y="2651760"/>
            <a:ext cx="2834640" cy="1234440"/>
          </a:xfrm>
          <a:prstGeom prst="roundRect">
            <a:avLst>
              <a:gd name="adj" fmla="val 6667"/>
            </a:avLst>
          </a:prstGeom>
          <a:solidFill>
            <a:srgbClr val="211F1C"/>
          </a:solidFill>
          <a:ln w="9525">
            <a:solidFill>
              <a:srgbClr val="6B45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27614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B7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DelegationManager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30815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체인 검증 · 킬스위치 ·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redeemDelegations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1828800"/>
            <a:ext cx="3657600" cy="914400"/>
          </a:xfrm>
          <a:prstGeom prst="roundRect">
            <a:avLst>
              <a:gd name="adj" fmla="val 9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63840" y="19385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enforcer 6종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863840" y="2258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신원 ★ · 한도 · 수취인 ★ · 기한 · 코드 ★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680960" y="2971800"/>
            <a:ext cx="3657600" cy="914400"/>
          </a:xfrm>
          <a:prstGeom prst="roundRect">
            <a:avLst>
              <a:gd name="adj" fmla="val 9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0" y="30815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DojangScroll · EAS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863840" y="3401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결제 순간마다 isVerified 라이브 읽기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680960" y="4114800"/>
            <a:ext cx="3657600" cy="914400"/>
          </a:xfrm>
          <a:prstGeom prst="roundRect">
            <a:avLst>
              <a:gd name="adj" fmla="val 9000"/>
            </a:avLst>
          </a:prstGeom>
          <a:solidFill>
            <a:srgbClr val="191815"/>
          </a:solidFill>
          <a:ln w="9525">
            <a:solidFill>
              <a:srgbClr val="2B292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0" y="42245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MapaeAccount + Factory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863840" y="454456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17C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자금 보관 · owner = 사람 · ERC-1271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0" y="2377440"/>
            <a:ext cx="1005840" cy="640080"/>
          </a:xfrm>
          <a:prstGeom prst="line">
            <a:avLst/>
          </a:prstGeom>
          <a:noFill/>
          <a:ln w="12700">
            <a:solidFill>
              <a:srgbClr val="817C73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3200400" y="3566160"/>
            <a:ext cx="1005840" cy="-274320"/>
          </a:xfrm>
          <a:prstGeom prst="line">
            <a:avLst/>
          </a:prstGeom>
          <a:noFill/>
          <a:ln w="12700">
            <a:solidFill>
              <a:srgbClr val="817C73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3200400" y="4754880"/>
            <a:ext cx="1005840" cy="-1188720"/>
          </a:xfrm>
          <a:prstGeom prst="line">
            <a:avLst/>
          </a:prstGeom>
          <a:noFill/>
          <a:ln w="12700">
            <a:solidFill>
              <a:srgbClr val="817C73"/>
            </a:solidFill>
            <a:prstDash val="solid"/>
            <a:tailEnd type="arrow"/>
          </a:ln>
        </p:spPr>
      </p:sp>
      <p:sp>
        <p:nvSpPr>
          <p:cNvPr id="31" name="Shape 29"/>
          <p:cNvSpPr/>
          <p:nvPr/>
        </p:nvSpPr>
        <p:spPr>
          <a:xfrm>
            <a:off x="7040880" y="2926080"/>
            <a:ext cx="640080" cy="-548640"/>
          </a:xfrm>
          <a:prstGeom prst="line">
            <a:avLst/>
          </a:prstGeom>
          <a:noFill/>
          <a:ln w="12700">
            <a:solidFill>
              <a:srgbClr val="817C73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7040880" y="3246120"/>
            <a:ext cx="640080" cy="137160"/>
          </a:xfrm>
          <a:prstGeom prst="line">
            <a:avLst/>
          </a:prstGeom>
          <a:noFill/>
          <a:ln w="12700">
            <a:solidFill>
              <a:srgbClr val="817C73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7040880" y="3611880"/>
            <a:ext cx="640080" cy="868680"/>
          </a:xfrm>
          <a:prstGeom prst="line">
            <a:avLst/>
          </a:prstGeom>
          <a:noFill/>
          <a:ln w="12700">
            <a:solidFill>
              <a:srgbClr val="817C73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822960" y="548640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발급은 서명(무료·무흔적) → 사용 시점에 매니저가 모든 조건을 검증 → 거부 사유까지 온체인에 남는다.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프론트도 MCP도 정산자도 신뢰 지점이 아니다 — 전부 사라져도 권한은 동작하고, 취소는 여전히 즉시다.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1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845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// APPENDIX D — HONEST LIMITS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219688" y="6455664"/>
            <a:ext cx="64008" cy="64008"/>
          </a:xfrm>
          <a:prstGeom prst="ellipse">
            <a:avLst/>
          </a:prstGeom>
          <a:solidFill>
            <a:srgbClr val="8A5A35"/>
          </a:solidFill>
          <a:ln/>
        </p:spPr>
      </p:sp>
      <p:sp>
        <p:nvSpPr>
          <p:cNvPr id="4" name="Text 2"/>
          <p:cNvSpPr/>
          <p:nvPr/>
        </p:nvSpPr>
        <p:spPr>
          <a:xfrm>
            <a:off x="11320272" y="63367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17C7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22960" y="841248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정직한 한계 — 심사자가 찾기 전에 먼저 말한다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실사용자 0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840480" y="1938528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이틀 만에 만들 수 없는 것. 대신 심사자가 오늘 직접 전 구간을 재현할 수 있게 만들었다 — 접속·발급·설치·결제·취소.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295351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빌더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840480" y="2971800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숨기지 않는다. 반증은 실행의 폭이다 — Solidity 컨트랙트 8개 + TS SDK + Go 정산자 + React 제품 + MCP, 그리고 의도적으로 만들지 않은 것들의 목록.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398678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VerifiedCode는 목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840480" y="4005072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실코드 발급자가 업비트뿐이라 라이브 실증이 불가하다. 배포·테스트 완료 상태로, 사실대로 표기한다.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020056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E9E4D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mKRW는 placeholder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840480" y="5038344"/>
            <a:ext cx="7525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B3AEA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 불가지론의 증명이기도 하다 — EIP-3009도 2612도 일부러 구현하지 않은 맨몸 ERC-20 위에서 전부 동작했다. 원화 스테이블 출시 시 주소 교체 외에 변경이 없다.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2026-07-30T08:11:20Z</dcterms:created>
  <dcterms:modified xsi:type="dcterms:W3CDTF">2026-07-30T08:11:20Z</dcterms:modified>
</cp:coreProperties>
</file>