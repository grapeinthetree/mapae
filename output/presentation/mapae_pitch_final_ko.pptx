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0659aa97c74f4c" /><Relationship Type="http://schemas.openxmlformats.org/officeDocument/2006/relationships/extended-properties" Target="/docProps/app.xml" Id="R0173be3fa6184d6c" /><Relationship Type="http://schemas.openxmlformats.org/officeDocument/2006/relationships/officeDocument" Target="/ppt/presentation.xml" Id="R507feb854f864d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650c744b9b48c2"/>
  </p:sldMasterIdLst>
  <p:notesMasterIdLst>
    <p:notesMasterId xmlns:r="http://schemas.openxmlformats.org/officeDocument/2006/relationships" r:id="R0f1c60c94a6b4d4b"/>
  </p:notesMasterIdLst>
  <p:sldIdLst>
    <p:sldId xmlns:r="http://schemas.openxmlformats.org/officeDocument/2006/relationships" id="256" r:id="R62ab03ac68934625"/>
    <p:sldId xmlns:r="http://schemas.openxmlformats.org/officeDocument/2006/relationships" id="257" r:id="R2ea75cf55dcd4636"/>
    <p:sldId xmlns:r="http://schemas.openxmlformats.org/officeDocument/2006/relationships" id="258" r:id="R21bdf87436fe43df"/>
    <p:sldId xmlns:r="http://schemas.openxmlformats.org/officeDocument/2006/relationships" id="259" r:id="R2b58e0ef3e264955"/>
    <p:sldId xmlns:r="http://schemas.openxmlformats.org/officeDocument/2006/relationships" id="260" r:id="Rc964f5a7c53b4b8c"/>
    <p:sldId xmlns:r="http://schemas.openxmlformats.org/officeDocument/2006/relationships" id="261" r:id="R5041a7c094c04d0b"/>
    <p:sldId xmlns:r="http://schemas.openxmlformats.org/officeDocument/2006/relationships" id="262" r:id="Rd53dca40d4cc4737"/>
    <p:sldId xmlns:r="http://schemas.openxmlformats.org/officeDocument/2006/relationships" id="263" r:id="R56f94a37bbda4936"/>
    <p:sldId xmlns:r="http://schemas.openxmlformats.org/officeDocument/2006/relationships" id="264" r:id="Rf095624761f9428e"/>
    <p:sldId xmlns:r="http://schemas.openxmlformats.org/officeDocument/2006/relationships" id="265" r:id="Raec01e1ceff04c2e"/>
    <p:sldId xmlns:r="http://schemas.openxmlformats.org/officeDocument/2006/relationships" id="266" r:id="Rf06617749c0248fc"/>
    <p:sldId xmlns:r="http://schemas.openxmlformats.org/officeDocument/2006/relationships" id="267" r:id="R14a2b9d4ca0b4742"/>
    <p:sldId xmlns:r="http://schemas.openxmlformats.org/officeDocument/2006/relationships" id="268" r:id="Rd6f1477611be4d68"/>
    <p:sldId xmlns:r="http://schemas.openxmlformats.org/officeDocument/2006/relationships" id="269" r:id="R22670a2a79574e1d"/>
    <p:sldId xmlns:r="http://schemas.openxmlformats.org/officeDocument/2006/relationships" id="270" r:id="R2a9b4efe47c74a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199fc49264b1f" /><Relationship Type="http://schemas.openxmlformats.org/officeDocument/2006/relationships/slideMaster" Target="/ppt/slideMasters/slideMaster1.xml" Id="Rb4650c744b9b48c2" /><Relationship Type="http://schemas.openxmlformats.org/officeDocument/2006/relationships/notesMaster" Target="/ppt/notesMasters/notesMaster1.xml" Id="R0f1c60c94a6b4d4b" /><Relationship Type="http://schemas.openxmlformats.org/officeDocument/2006/relationships/presProps" Target="/ppt/presProps.xml" Id="R3193c61311b74061" /><Relationship Type="http://schemas.openxmlformats.org/officeDocument/2006/relationships/viewProps" Target="/ppt/viewProps.xml" Id="R9c4d76afc88848ea" /><Relationship Type="http://schemas.openxmlformats.org/officeDocument/2006/relationships/tableStyles" Target="/ppt/tableStyles.xml" Id="Rd851248963624f7e" /><Relationship Type="http://schemas.openxmlformats.org/officeDocument/2006/relationships/slide" Target="/ppt/slides/slide1.xml" Id="R62ab03ac68934625" /><Relationship Type="http://schemas.openxmlformats.org/officeDocument/2006/relationships/slide" Target="/ppt/slides/slide2.xml" Id="R2ea75cf55dcd4636" /><Relationship Type="http://schemas.openxmlformats.org/officeDocument/2006/relationships/slide" Target="/ppt/slides/slide3.xml" Id="R21bdf87436fe43df" /><Relationship Type="http://schemas.openxmlformats.org/officeDocument/2006/relationships/slide" Target="/ppt/slides/slide4.xml" Id="R2b58e0ef3e264955" /><Relationship Type="http://schemas.openxmlformats.org/officeDocument/2006/relationships/slide" Target="/ppt/slides/slide5.xml" Id="Rc964f5a7c53b4b8c" /><Relationship Type="http://schemas.openxmlformats.org/officeDocument/2006/relationships/slide" Target="/ppt/slides/slide6.xml" Id="R5041a7c094c04d0b" /><Relationship Type="http://schemas.openxmlformats.org/officeDocument/2006/relationships/slide" Target="/ppt/slides/slide7.xml" Id="Rd53dca40d4cc4737" /><Relationship Type="http://schemas.openxmlformats.org/officeDocument/2006/relationships/slide" Target="/ppt/slides/slide8.xml" Id="R56f94a37bbda4936" /><Relationship Type="http://schemas.openxmlformats.org/officeDocument/2006/relationships/slide" Target="/ppt/slides/slide9.xml" Id="Rf095624761f9428e" /><Relationship Type="http://schemas.openxmlformats.org/officeDocument/2006/relationships/slide" Target="/ppt/slides/slide10.xml" Id="Raec01e1ceff04c2e" /><Relationship Type="http://schemas.openxmlformats.org/officeDocument/2006/relationships/slide" Target="/ppt/slides/slide11.xml" Id="Rf06617749c0248fc" /><Relationship Type="http://schemas.openxmlformats.org/officeDocument/2006/relationships/slide" Target="/ppt/slides/slide12.xml" Id="R14a2b9d4ca0b4742" /><Relationship Type="http://schemas.openxmlformats.org/officeDocument/2006/relationships/slide" Target="/ppt/slides/slide13.xml" Id="Rd6f1477611be4d68" /><Relationship Type="http://schemas.openxmlformats.org/officeDocument/2006/relationships/slide" Target="/ppt/slides/slide14.xml" Id="R22670a2a79574e1d" /><Relationship Type="http://schemas.openxmlformats.org/officeDocument/2006/relationships/slide" Target="/ppt/slides/slide15.xml" Id="R2a9b4efe47c7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469c5b22ea43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329db058914583" /><Relationship Type="http://schemas.openxmlformats.org/officeDocument/2006/relationships/notesMaster" Target="/ppt/notesMasters/notesMaster1.xml" Id="Rea9ffaba2e0842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8a5d1250c441a8" /><Relationship Type="http://schemas.openxmlformats.org/officeDocument/2006/relationships/notesMaster" Target="/ppt/notesMasters/notesMaster1.xml" Id="Rc21bbeec824b4a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58614864024443" /><Relationship Type="http://schemas.openxmlformats.org/officeDocument/2006/relationships/notesMaster" Target="/ppt/notesMasters/notesMaster1.xml" Id="R44659ff11d9b4f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820228e944045" /><Relationship Type="http://schemas.openxmlformats.org/officeDocument/2006/relationships/notesMaster" Target="/ppt/notesMasters/notesMaster1.xml" Id="Rab13c42dfef2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f265720f04f4d" /><Relationship Type="http://schemas.openxmlformats.org/officeDocument/2006/relationships/notesMaster" Target="/ppt/notesMasters/notesMaster1.xml" Id="Re0fb17727e7f49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17b1d13d9a46cf" /><Relationship Type="http://schemas.openxmlformats.org/officeDocument/2006/relationships/notesMaster" Target="/ppt/notesMasters/notesMaster1.xml" Id="R44f05cdcbc5d40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a16bfbc02845df" /><Relationship Type="http://schemas.openxmlformats.org/officeDocument/2006/relationships/notesMaster" Target="/ppt/notesMasters/notesMaster1.xml" Id="R3ab8041775924c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386f105be24c1a" /><Relationship Type="http://schemas.openxmlformats.org/officeDocument/2006/relationships/notesMaster" Target="/ppt/notesMasters/notesMaster1.xml" Id="R2ab220730b054c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18c22afdaa4474" /><Relationship Type="http://schemas.openxmlformats.org/officeDocument/2006/relationships/notesMaster" Target="/ppt/notesMasters/notesMaster1.xml" Id="R105f9eb09a2942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72a58cb570494f" /><Relationship Type="http://schemas.openxmlformats.org/officeDocument/2006/relationships/notesMaster" Target="/ppt/notesMasters/notesMaster1.xml" Id="R871647b2ab3e4a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8b0e01c7834b45" /><Relationship Type="http://schemas.openxmlformats.org/officeDocument/2006/relationships/notesMaster" Target="/ppt/notesMasters/notesMaster1.xml" Id="Rd96cfa12524c47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72695842d447b0" /><Relationship Type="http://schemas.openxmlformats.org/officeDocument/2006/relationships/notesMaster" Target="/ppt/notesMasters/notesMaster1.xml" Id="Rf5a2d5eb3aed43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4b1dc2c3d849fa" /><Relationship Type="http://schemas.openxmlformats.org/officeDocument/2006/relationships/notesMaster" Target="/ppt/notesMasters/notesMaster1.xml" Id="R78544dc5ca9e49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d17e0d3cb14267" /><Relationship Type="http://schemas.openxmlformats.org/officeDocument/2006/relationships/notesMaster" Target="/ppt/notesMasters/notesMaster1.xml" Id="Rf7823eb0b0a942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26def4afd64dad" /><Relationship Type="http://schemas.openxmlformats.org/officeDocument/2006/relationships/notesMaster" Target="/ppt/notesMasters/notesMaster1.xml" Id="R98a9a745269c4f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877cc35bd446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bd1a92a1e24426" /><Relationship Type="http://schemas.openxmlformats.org/officeDocument/2006/relationships/slideLayout" Target="/ppt/slideLayouts/slideLayout1.xml" Id="Ra333cedfe45546a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33cedfe45546a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9624b2db646c1" /><Relationship Type="http://schemas.openxmlformats.org/officeDocument/2006/relationships/image" Target="/ppt/media/image.png" Id="R4e220df05f644346" /><Relationship Type="http://schemas.openxmlformats.org/officeDocument/2006/relationships/notesSlide" Target="/ppt/notesSlides/notesSlide1.xml" Id="Rae1a98d77ad2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e23c7dbb54e6f" /><Relationship Type="http://schemas.openxmlformats.org/officeDocument/2006/relationships/notesSlide" Target="/ppt/notesSlides/notesSlide2.xml" Id="Rc431046d58b14c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4269433ae4e4f" /><Relationship Type="http://schemas.openxmlformats.org/officeDocument/2006/relationships/notesSlide" Target="/ppt/notesSlides/notesSlide3.xml" Id="Ree8e7835b1e34c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8cb5c62774467" /><Relationship Type="http://schemas.openxmlformats.org/officeDocument/2006/relationships/notesSlide" Target="/ppt/notesSlides/notesSlide4.xml" Id="Rd9e9e010e87a48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99615f5334426" /><Relationship Type="http://schemas.openxmlformats.org/officeDocument/2006/relationships/notesSlide" Target="/ppt/notesSlides/notesSlide5.xml" Id="Rd4b1b6c1d8db42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86f3774754015" /><Relationship Type="http://schemas.openxmlformats.org/officeDocument/2006/relationships/image" Target="/ppt/media/image2.png" Id="R98618ad2513d402f" /><Relationship Type="http://schemas.openxmlformats.org/officeDocument/2006/relationships/notesSlide" Target="/ppt/notesSlides/notesSlide6.xml" Id="R97053f3276804c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a0f3343784610" /><Relationship Type="http://schemas.openxmlformats.org/officeDocument/2006/relationships/image" Target="/ppt/media/image.jpeg" Id="R2ca6cc0505cf436d" /><Relationship Type="http://schemas.openxmlformats.org/officeDocument/2006/relationships/notesSlide" Target="/ppt/notesSlides/notesSlide7.xml" Id="Rd8a448c7f5f046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69c55eba5462f" /><Relationship Type="http://schemas.openxmlformats.org/officeDocument/2006/relationships/notesSlide" Target="/ppt/notesSlides/notesSlide8.xml" Id="R5cb4dea2c3ba4c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c581f7b184169" /><Relationship Type="http://schemas.openxmlformats.org/officeDocument/2006/relationships/notesSlide" Target="/ppt/notesSlides/notesSlide9.xml" Id="R72c4d916d98149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e9e6f687345ec" /><Relationship Type="http://schemas.openxmlformats.org/officeDocument/2006/relationships/notesSlide" Target="/ppt/notesSlides/notesSlide10.xml" Id="R3896fc67dc0046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b515ead024b5b" /><Relationship Type="http://schemas.openxmlformats.org/officeDocument/2006/relationships/notesSlide" Target="/ppt/notesSlides/notesSlide11.xml" Id="Rc14e471400aa49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1ca1ca25a4e3c" /><Relationship Type="http://schemas.openxmlformats.org/officeDocument/2006/relationships/notesSlide" Target="/ppt/notesSlides/notesSlide12.xml" Id="R81847dc47cce46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00b5ba9bd466d" /><Relationship Type="http://schemas.openxmlformats.org/officeDocument/2006/relationships/notesSlide" Target="/ppt/notesSlides/notesSlide13.xml" Id="R65ba35c7acf949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a3ddf11924e00" /><Relationship Type="http://schemas.openxmlformats.org/officeDocument/2006/relationships/notesSlide" Target="/ppt/notesSlides/notesSlide14.xml" Id="R484b3e3823734b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ac4a110af4cd3" /><Relationship Type="http://schemas.openxmlformats.org/officeDocument/2006/relationships/image" Target="/ppt/media/image3.png" Id="Raf624ea7cf5c4d35" /><Relationship Type="http://schemas.openxmlformats.org/officeDocument/2006/relationships/notesSlide" Target="/ppt/notesSlides/notesSlide15.xml" Id="R3d5cadafcde44a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C29D5F-0F7B-411B-BBF5-4F864001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928"/>
            <a:ext cx="12188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GASOK 2026 · GIWA-NATIVE IDEAS</a:t>
            </a:r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20df05f6443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8676" y="1298448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BF24164-8036-4717-8FB1-C99820D6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88920"/>
            <a:ext cx="1218895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마패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365FB9-FBF5-498D-BE9D-5A89DDFF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67328"/>
            <a:ext cx="121889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D9AB77"/>
                </a:solidFill>
                <a:latin typeface="Noto Sans KR"/>
                <a:ea typeface="Noto Sans KR"/>
                <a:cs typeface="Noto Sans KR"/>
              </a:rPr>
              <a:t>M A P A 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BF724ED-88FB-4489-A220-8B43B517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70832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AI에게 지갑을 맡기지 마세요.
쓸 수 있는 범위만 서명하세요.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BDA3EC4-D746-489A-ACB1-59160361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8032"/>
            <a:ext cx="121889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검증된 신원에 연결된 AI 결제 권한 레이어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78BE011-5F10-4764-BB3D-D18312CC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889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E9E4DA"/>
                </a:solidFill>
                <a:latin typeface="Menlo"/>
                <a:ea typeface="Menlo"/>
                <a:cs typeface="Menlo"/>
              </a:rPr>
              <a:t>GIWA Sepolia      LIVE PRODUCT      x402</a:t>
            </a:r>
          </a:p>
        </p:txBody>
      </p:sp>
    </p:spTree>
    <p:extLst>
      <p:ext uri="{BB962C8B-B14F-4D97-AF65-F5344CB8AC3E}">
        <p14:creationId xmlns:p14="http://schemas.microsoft.com/office/powerpoint/2010/main" val="217173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BB3E55-D363-4362-A341-C6FBBC29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PROBLEM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91D74A-0E15-409A-8353-1400FDFB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25AF05-48E2-48AB-8BB3-E4BD3CD4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71EA4FC-FA23-4E5C-8AAA-D74AE48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AI에게 필요한 것은 지갑이 아니라,
제한된 권한이다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61DB27-4DD2-4F26-A12C-C646ED93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개인키를 주면 너무 많고, 매번 승인하면 너무 느리다.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5AB3A4D-0F8F-4E4B-B70C-CE7B765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5065776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7B76E2-B44C-4048-AEAF-CAC2CA34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487168"/>
            <a:ext cx="548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5484D"/>
                </a:solidFill>
                <a:latin typeface="Noto Sans KR"/>
                <a:ea typeface="Noto Sans KR"/>
                <a:cs typeface="Noto Sans KR"/>
              </a:rPr>
              <a:t>✕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6E5C2C9-69B8-4B06-98AD-148D0D35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063240"/>
            <a:ext cx="4297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개인키 공유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F38F8AC-9946-4561-93D9-DBE0E6E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547872"/>
            <a:ext cx="4297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지갑 열쇠를 넘기는 것 외에 방법이 없다.</a:t>
            </a:r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한도도, 대상도, 기한도 걸 수 없다.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8FE652-C563-4409-A323-C2476C1A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148840"/>
            <a:ext cx="5065776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858051-8F12-4955-8C3D-028B7004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2487168"/>
            <a:ext cx="548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5484D"/>
                </a:solidFill>
                <a:latin typeface="Noto Sans KR"/>
                <a:ea typeface="Noto Sans KR"/>
                <a:cs typeface="Noto Sans KR"/>
              </a:rPr>
              <a:t>✕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5AB001D-2882-4F32-817D-F6DB763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063240"/>
            <a:ext cx="4297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매번 사람 승인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EF4BE99-C8C4-40E3-988F-B1BC4650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547872"/>
            <a:ext cx="4297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수탁형 에이전트 지갑.</a:t>
            </a:r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그 회사를 믿어야 하고, 제3자는 검증할 수 없다.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F66C1DE-6142-4FFE-BE51-60111EBB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0543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Mapae는 그 사이에 ‘사용 범위가 정해진 권한’을 만든다.</a:t>
            </a:r>
          </a:p>
        </p:txBody>
      </p:sp>
    </p:spTree>
    <p:extLst>
      <p:ext uri="{BB962C8B-B14F-4D97-AF65-F5344CB8AC3E}">
        <p14:creationId xmlns:p14="http://schemas.microsoft.com/office/powerpoint/2010/main" val="1357141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84B1DD-8F70-4103-989F-2F84E89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ACCOUNTABILITY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454C6C3-57F6-421A-B143-435FA4C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56292C-1883-4B14-AA8B-0D3DDAA4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7F2FC8-8A12-471B-9F06-9C3AA6B0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결제 뒤에는 책임질 사람이 보여야 한다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4BA6EB-D110-4414-9A47-8CC6C0A2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10543032" cy="1572768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7A7AD2-E1D2-45B2-9942-1DB3A5B7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1993392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Menlo"/>
                <a:ea typeface="Menlo"/>
                <a:cs typeface="Menlo"/>
              </a:rPr>
              <a:t>일반 에이전트 결제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4163285-98B4-48C4-B4FD-41092D1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2860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B3AEA3"/>
                </a:solidFill>
                <a:latin typeface="Menlo"/>
                <a:ea typeface="Menlo"/>
                <a:cs typeface="Menlo"/>
              </a:rPr>
              <a:t>결제  →  익명 주소  →  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B910360-E344-41BC-8F87-26E253F0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798064"/>
            <a:ext cx="97749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한도를 지켜도, 문제가 생겼을 때 책임 주체를 확인하기 어렵다.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6F5F6F4-920F-4AED-906C-24204AE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10543032" cy="1627632"/>
          </a:xfrm>
          <a:prstGeom xmlns:a="http://schemas.openxmlformats.org/drawingml/2006/main" prst="roundRect">
            <a:avLst>
              <a:gd name="adj" fmla="val 5056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6B452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4976095-43C2-414A-B7AF-977C05F7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82219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9AB77"/>
                </a:solidFill>
                <a:latin typeface="Menlo"/>
                <a:ea typeface="Menlo"/>
                <a:cs typeface="Menlo"/>
              </a:rPr>
              <a:t>GIWA + Mapae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E234D44-0C7D-488C-8004-C607AF41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B3AEA3"/>
                </a:solidFill>
                <a:latin typeface="Menlo"/>
                <a:ea typeface="Menlo"/>
                <a:cs typeface="Menlo"/>
              </a:rPr>
              <a:t>결제  →  서명된 권한  →  Dojang  →  사람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0EB8FCD-2B92-4D80-819B-3E3B79EF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45152"/>
            <a:ext cx="977493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결제 순간의 신원 상태를 확인해, 모든 사용을 권한을 발급한 사람에게 연결한다.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BBB97E8-6916-4517-92CA-DCECE854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42432"/>
            <a:ext cx="105430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책임 추적은 별도 데이터베이스가 아니라 체인 위의 서명과 실행 기록으로 증명된다.</a:t>
            </a:r>
          </a:p>
        </p:txBody>
      </p:sp>
    </p:spTree>
    <p:extLst>
      <p:ext uri="{BB962C8B-B14F-4D97-AF65-F5344CB8AC3E}">
        <p14:creationId xmlns:p14="http://schemas.microsoft.com/office/powerpoint/2010/main" val="1652989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EC43F3D-E2AA-4581-BF2F-C4B4CC7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THE PRODUCT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97BB1C2-544C-40A4-AEFB-D9DC4063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120253-D305-4EB0-8696-34C7BE1E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16E45D-78B1-43E4-B94B-0374AF3B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사람은 조건을 정하고,
에이전트는 그 안에서만 움직인다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0C0DF54-72C3-4AFE-8FE6-DA6CEED8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228600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8F8F88F-926A-4AFC-860D-1A368533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8483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사람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AB47C18-294F-46A0-A74B-D7AC9E6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05456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범위 설정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2DF9BC3-6A63-4DE5-9329-A2A29B37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964" y="228600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B9845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5D2809F-6CC7-4795-B112-0373C619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874520"/>
            <a:ext cx="228600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211F1C"/>
          </a:solidFill>
          <a:ln xmlns:a="http://schemas.openxmlformats.org/drawingml/2006/main" w="9525">
            <a:solidFill>
              <a:srgbClr val="6B452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B63D2D-5666-4E9E-AADA-6E7F1CC5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208483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9AB77"/>
                </a:solidFill>
                <a:latin typeface="Noto Sans KR"/>
                <a:ea typeface="Noto Sans KR"/>
                <a:cs typeface="Noto Sans KR"/>
              </a:rPr>
              <a:t>서명된 마패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DB1033-B900-4ADD-9F40-A9A8075F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2505456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무료 EIP-712 서명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24F362A-2175-4033-A5EC-0B9FC84B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308" y="228600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B9845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2AADF34-07E6-4275-B738-E52E8AA8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874520"/>
            <a:ext cx="228600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9FB43C0-EEB4-4F67-BAF8-7CBA5D2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8483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에이전트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8F15DC4-4DC6-437E-B63A-3B3C551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505456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필요할 때 결제 요청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7A1CC0D-6659-4D14-91F0-11AB63C6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652" y="228600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B9845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A0E5E96-96B0-4C14-82AD-84484B66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1874520"/>
            <a:ext cx="228600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87B7B8-D56A-4CFC-8A94-969B14A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08483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GIWA Chain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D636807-F8C3-48D0-9298-1925BFFA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505456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조건 검증 후 실행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C9A6DB7-F023-4D61-8B1C-BE86192A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10543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예: 7일 동안 · 지정 가맹점만 · 하루 50,000 mKRW까지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578AF64-5CD6-4E40-B5C4-2C37C720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78224"/>
            <a:ext cx="10543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조건을 바꾸려면 새로 서명하고, 멈추려면 즉시 비활성화한다.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BA248EA-7C3C-4B6A-A07B-CB7E3F3D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0288"/>
            <a:ext cx="10543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자금과 개인키는 사용자에게 남는다.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C87DE7A-D26F-472E-BF0C-804F9C3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발급은 오프체인 서명, 사용과 거부는 온체인 기록</a:t>
            </a:r>
          </a:p>
        </p:txBody>
      </p:sp>
    </p:spTree>
    <p:extLst>
      <p:ext uri="{BB962C8B-B14F-4D97-AF65-F5344CB8AC3E}">
        <p14:creationId xmlns:p14="http://schemas.microsoft.com/office/powerpoint/2010/main" val="334049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D495EF-88C9-4B13-8C72-673B28B0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WHY GIWA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52BDBB-BB41-40D2-8E49-AD276719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9B5023-D6B6-4F97-BEBB-9FF3574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D0E326E-5005-43B0-B87C-2BD4BBE7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GIWA는 신원을 결제 조건으로 쓸 수 있는 체인이다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0CF9E3-3A63-4A25-BDAD-D47AA67D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Dojang이 ‘누구인가’를 증명하고, Mapae가 ‘어디까지 할 수 있는가’를 정한다.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CCCE37-EFB5-4B14-98E7-90AD53A6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2430018" cy="210312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8C5AE22-2823-4DF2-B327-74CBEE65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06040"/>
            <a:ext cx="188137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DOJANG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6297D5-8197-40C6-8C90-ACAB6FCE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90672"/>
            <a:ext cx="1881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검증된 신원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6CFB39-B23A-4B5E-9783-A09E37CB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49040"/>
            <a:ext cx="188137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결제 순간에도
유효한가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8597F9-67A7-493A-9F38-1A46CD49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298" y="2286000"/>
            <a:ext cx="2430018" cy="210312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325E30-F332-4FBF-AA59-F7E5752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18" y="2606040"/>
            <a:ext cx="188137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MAPAE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A7F77B8-7977-49BA-AA60-A0142E9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18" y="3090672"/>
            <a:ext cx="1881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제한된 권한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F11D483-D62B-41D8-9DC3-7FF4949F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18" y="3749040"/>
            <a:ext cx="188137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얼마나 · 어디에
언제까지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325BBB8-F768-4743-B231-A1BBCF1E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36" y="2286000"/>
            <a:ext cx="2430018" cy="210312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720E92B-124A-4BE0-A520-D1A65EFF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956" y="2606040"/>
            <a:ext cx="188137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GIWA CHAIN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CC41621-25F0-496B-8CE7-B87AD5DB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956" y="3090672"/>
            <a:ext cx="1881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온체인 강제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1C6A8B9-5A04-40F1-8F57-F67F8540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956" y="3749040"/>
            <a:ext cx="188137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허용과 거부를
같은 규칙으로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E361996-2061-4F94-8542-D594AF10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974" y="2286000"/>
            <a:ext cx="2430018" cy="210312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211F1C"/>
          </a:solidFill>
          <a:ln xmlns:a="http://schemas.openxmlformats.org/drawingml/2006/main" w="15240">
            <a:solidFill>
              <a:srgbClr val="B9845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D7F3061-44D1-4E42-9413-36E4703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294" y="2606040"/>
            <a:ext cx="188137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D9AB77"/>
                </a:solidFill>
                <a:latin typeface="Noto Sans KR"/>
                <a:ea typeface="Noto Sans KR"/>
                <a:cs typeface="Noto Sans KR"/>
              </a:rPr>
              <a:t>GIWA WALLET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A56B62D-4E4F-4F06-AB65-08127F74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294" y="3090672"/>
            <a:ext cx="1881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98450"/>
                </a:solidFill>
                <a:latin typeface="Noto Sans KR"/>
                <a:ea typeface="Noto Sans KR"/>
                <a:cs typeface="Noto Sans KR"/>
              </a:rPr>
              <a:t>발급과 통제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488FE4F-F08B-437C-924F-D7F66B6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294" y="3493008"/>
            <a:ext cx="188137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“누가 나 대신</a:t>
            </a:r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움직일 수 있는가”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C8220B5-F881-4AE5-86B3-27ABB978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팀이 조사한 38개 delegation 조건에는 신원 게이트가 없었다. Mapae가 그 빈칸을 채운다.</a:t>
            </a:r>
          </a:p>
        </p:txBody>
      </p:sp>
    </p:spTree>
    <p:extLst>
      <p:ext uri="{BB962C8B-B14F-4D97-AF65-F5344CB8AC3E}">
        <p14:creationId xmlns:p14="http://schemas.microsoft.com/office/powerpoint/2010/main" val="1275198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028FEDF-F217-4A7C-8EC8-A59B726B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THE NAME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56F111-E002-419F-A71C-47848B37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A64D635-5EAE-4067-88FB-8C992C0B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0530BF-21C3-4FB2-ACCA-F91BF3BE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마패는 ‘신원 + 범위 + 기한’을 담은 권한 증표였다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6A59FC-ECB0-4BA1-8905-A3915368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D9AB77"/>
                </a:solidFill>
                <a:latin typeface="Noto Sans KR"/>
                <a:ea typeface="Noto Sans KR"/>
                <a:cs typeface="Noto Sans KR"/>
              </a:rPr>
              <a:t>이름을 빌린 것이 아니라, 권한을 설계하는 방식을 이어받았다.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0BE8D4-B3EB-45FE-A55B-E9750E63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39776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  <a:defRPr sz="1425">
                <a:solidFill>
                  <a:srgbClr val="9D968E"/>
                </a:solidFill>
              </a:defRPr>
            </a:pPr>
            <a:r>
              <a:rPr sz="1425">
                <a:solidFill>
                  <a:srgbClr val="9D968E"/>
                </a:solidFill>
                <a:latin typeface="Noto Sans KR"/>
                <a:ea typeface="Noto Sans KR"/>
                <a:cs typeface="Noto Sans KR"/>
              </a:rPr>
              <a:t>마패는 상서원이 발급한 구리 패다. 뒷면에 새겨진 말의 수가 곧 역참에서 징발할 수 있는 말의 수 — 품계에 따라 차등 지급됐다. 왕은 십마패, 영의정은 칠마패를 썼다는 기록이 남아 있고, 현존 유물은 일마패에서 오마패까지다.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</a:p>
          <a:p xmlns:a="http://schemas.openxmlformats.org/drawingml/2006/main">
            <a:pPr marL="0" indent="0">
              <a:lnSpc>
                <a:spcPct val="140000"/>
              </a:lnSpc>
              <a:buNone/>
              <a:defRPr sz="1425">
                <a:solidFill>
                  <a:srgbClr val="9D968E"/>
                </a:solidFill>
              </a:defRPr>
            </a:pPr>
            <a:r>
              <a:rPr sz="1425">
                <a:solidFill>
                  <a:srgbClr val="9D968E"/>
                </a:solidFill>
                <a:latin typeface="Noto Sans KR"/>
                <a:ea typeface="Noto Sans KR"/>
                <a:cs typeface="Noto Sans KR"/>
              </a:rPr>
              <a:t>관원의 신분 증명을 겸했고, 암행어사의 상징이 되었다.</a:t>
            </a:r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18ad2513d402f">
            <a:alphaModFix amt="6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" y="5074920"/>
            <a:ext cx="777240" cy="7772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7" name="Table 0"/>
          <p:cNvGraphicFramePr/>
          <p:nvPr/>
        </p:nvGraphicFramePr>
        <p:xfrm>
          <a:off xmlns:a="http://schemas.openxmlformats.org/drawingml/2006/main" x="5257800" y="2331720"/>
          <a:ext xmlns:a="http://schemas.openxmlformats.org/drawingml/2006/main" cx="6080760" cy="21945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6080"/>
                <a:gridCol w="315468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D9AB7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조선의 마패</a:t>
                      </a:r>
                    </a:p>
                  </a:txBody>
                  <a:tcPr marL="109728" marR="109728" marT="54864" marB="54864" anchor="ctr">
                    <a:lnL w="6350" cmpd="sng">
                      <a:solidFill>
                        <a:srgbClr val="2B2925"/>
                      </a:solidFill>
                      <a:prstDash val="solid"/>
                    </a:lnL>
                    <a:lnR w="6350" cmpd="sng">
                      <a:solidFill>
                        <a:srgbClr val="2B2925"/>
                      </a:solidFill>
                      <a:prstDash val="solid"/>
                    </a:lnR>
                    <a:lnT w="6350" cmpd="sng">
                      <a:solidFill>
                        <a:srgbClr val="2B2925"/>
                      </a:solidFill>
                      <a:prstDash val="solid"/>
                    </a:lnT>
                    <a:lnB w="6350" cmpd="sng">
                      <a:solidFill>
                        <a:srgbClr val="2B2925"/>
                      </a:solidFill>
                      <a:prstDash val="soli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E9E4D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오늘의 Mapae</a:t>
                      </a:r>
                    </a:p>
                  </a:txBody>
                  <a:tcPr marL="109728" marR="109728" marT="54864" marB="54864" anchor="ctr">
                    <a:lnL w="6350" cmpd="sng">
                      <a:solidFill>
                        <a:srgbClr val="2B2925"/>
                      </a:solidFill>
                      <a:prstDash val="solid"/>
                    </a:lnL>
                    <a:lnR w="6350" cmpd="sng">
                      <a:solidFill>
                        <a:srgbClr val="2B2925"/>
                      </a:solidFill>
                      <a:prstDash val="solid"/>
                    </a:lnR>
                    <a:lnT w="6350" cmpd="sng">
                      <a:solidFill>
                        <a:srgbClr val="2B2925"/>
                      </a:solidFill>
                      <a:prstDash val="solid"/>
                    </a:lnT>
                    <a:lnB w="6350" cmpd="sng">
                      <a:solidFill>
                        <a:srgbClr val="2B2925"/>
                      </a:solidFill>
                      <a:prstDash val="solid"/>
                    </a:lnB>
                    <a:solidFill>
                      <a:srgbClr val="1918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B3AEA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검증된 관원</a:t>
                      </a:r>
                    </a:p>
                  </a:txBody>
                  <a:tcPr marL="109728" marR="109728" marT="54864" marB="54864" anchor="ctr">
                    <a:lnL w="6350" cmpd="sng">
                      <a:solidFill>
                        <a:srgbClr val="2B2925"/>
                      </a:solidFill>
                      <a:prstDash val="solid"/>
                    </a:lnL>
                    <a:lnR w="6350" cmpd="sng">
                      <a:solidFill>
                        <a:srgbClr val="2B2925"/>
                      </a:solidFill>
                      <a:prstDash val="solid"/>
                    </a:lnR>
                    <a:lnT w="6350" cmpd="sng">
                      <a:solidFill>
                        <a:srgbClr val="2B2925"/>
                      </a:solidFill>
                      <a:prstDash val="solid"/>
                    </a:lnT>
                    <a:lnB w="6350" cmpd="sng">
                      <a:solidFill>
                        <a:srgbClr val="2B2925"/>
                      </a:solidFill>
                      <a:prstDash val="soli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B3AEA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Dojang으로 확인된 발급자</a:t>
                      </a:r>
                    </a:p>
                  </a:txBody>
                  <a:tcPr marL="109728" marR="109728" marT="54864" marB="54864" anchor="ctr">
                    <a:lnL w="6350" cmpd="sng">
                      <a:solidFill>
                        <a:srgbClr val="2B2925"/>
                      </a:solidFill>
                      <a:prstDash val="solid"/>
                    </a:lnL>
                    <a:lnR w="6350" cmpd="sng">
                      <a:solidFill>
                        <a:srgbClr val="2B2925"/>
                      </a:solidFill>
                      <a:prstDash val="solid"/>
                    </a:lnR>
                    <a:lnT w="6350" cmpd="sng">
                      <a:solidFill>
                        <a:srgbClr val="2B2925"/>
                      </a:solidFill>
                      <a:prstDash val="solid"/>
                    </a:lnT>
                    <a:lnB w="6350" cmpd="sng">
                      <a:solidFill>
                        <a:srgbClr val="2B2925"/>
                      </a:solidFill>
                      <a:prstDash val="solid"/>
                    </a:lnB>
                    <a:solidFill>
                      <a:srgbClr val="1918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B3AEA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새겨진 말의 수</a:t>
                      </a:r>
                    </a:p>
                  </a:txBody>
                  <a:tcPr marL="109728" marR="109728" marT="54864" marB="54864" anchor="ctr">
                    <a:lnL w="6350" cmpd="sng">
                      <a:solidFill>
                        <a:srgbClr val="2B2925"/>
                      </a:solidFill>
                      <a:prstDash val="solid"/>
                    </a:lnL>
                    <a:lnR w="6350" cmpd="sng">
                      <a:solidFill>
                        <a:srgbClr val="2B2925"/>
                      </a:solidFill>
                      <a:prstDash val="solid"/>
                    </a:lnR>
                    <a:lnT w="6350" cmpd="sng">
                      <a:solidFill>
                        <a:srgbClr val="2B2925"/>
                      </a:solidFill>
                      <a:prstDash val="solid"/>
                    </a:lnT>
                    <a:lnB w="6350" cmpd="sng">
                      <a:solidFill>
                        <a:srgbClr val="2B2925"/>
                      </a:solidFill>
                      <a:prstDash val="soli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B3AEA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서명된 금액과 사용처</a:t>
                      </a:r>
                    </a:p>
                  </a:txBody>
                  <a:tcPr marL="109728" marR="109728" marT="54864" marB="54864" anchor="ctr">
                    <a:lnL w="6350" cmpd="sng">
                      <a:solidFill>
                        <a:srgbClr val="2B2925"/>
                      </a:solidFill>
                      <a:prstDash val="solid"/>
                    </a:lnL>
                    <a:lnR w="6350" cmpd="sng">
                      <a:solidFill>
                        <a:srgbClr val="2B2925"/>
                      </a:solidFill>
                      <a:prstDash val="solid"/>
                    </a:lnR>
                    <a:lnT w="6350" cmpd="sng">
                      <a:solidFill>
                        <a:srgbClr val="2B2925"/>
                      </a:solidFill>
                      <a:prstDash val="solid"/>
                    </a:lnT>
                    <a:lnB w="6350" cmpd="sng">
                      <a:solidFill>
                        <a:srgbClr val="2B2925"/>
                      </a:solidFill>
                      <a:prstDash val="solid"/>
                    </a:lnB>
                    <a:solidFill>
                      <a:srgbClr val="1918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B3AEA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임무와 기한</a:t>
                      </a:r>
                    </a:p>
                  </a:txBody>
                  <a:tcPr marL="109728" marR="109728" marT="54864" marB="54864" anchor="ctr">
                    <a:lnL w="6350" cmpd="sng">
                      <a:solidFill>
                        <a:srgbClr val="2B2925"/>
                      </a:solidFill>
                      <a:prstDash val="solid"/>
                    </a:lnL>
                    <a:lnR w="6350" cmpd="sng">
                      <a:solidFill>
                        <a:srgbClr val="2B2925"/>
                      </a:solidFill>
                      <a:prstDash val="solid"/>
                    </a:lnR>
                    <a:lnT w="6350" cmpd="sng">
                      <a:solidFill>
                        <a:srgbClr val="2B2925"/>
                      </a:solidFill>
                      <a:prstDash val="solid"/>
                    </a:lnT>
                    <a:lnB w="6350" cmpd="sng">
                      <a:solidFill>
                        <a:srgbClr val="2B2925"/>
                      </a:solidFill>
                      <a:prstDash val="soli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B3AEA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만료와 즉시 취소</a:t>
                      </a:r>
                    </a:p>
                  </a:txBody>
                  <a:tcPr marL="109728" marR="109728" marT="54864" marB="54864" anchor="ctr">
                    <a:lnL w="6350" cmpd="sng">
                      <a:solidFill>
                        <a:srgbClr val="2B2925"/>
                      </a:solidFill>
                      <a:prstDash val="solid"/>
                    </a:lnL>
                    <a:lnR w="6350" cmpd="sng">
                      <a:solidFill>
                        <a:srgbClr val="2B2925"/>
                      </a:solidFill>
                      <a:prstDash val="solid"/>
                    </a:lnR>
                    <a:lnT w="6350" cmpd="sng">
                      <a:solidFill>
                        <a:srgbClr val="2B2925"/>
                      </a:solidFill>
                      <a:prstDash val="solid"/>
                    </a:lnT>
                    <a:lnB w="6350" cmpd="sng">
                      <a:solidFill>
                        <a:srgbClr val="2B2925"/>
                      </a:solidFill>
                      <a:prstDash val="solid"/>
                    </a:lnB>
                    <a:solidFill>
                      <a:srgbClr val="19181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54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506999-92FD-4305-913D-AE737703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LIVE PRODUCT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CCA543-300A-4D8F-8824-329A8C03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C82AE6-280E-4FEB-8BDC-A9799AB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F600C09-5515-4644-BA28-96DDDE8B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사용자는 한 문장으로 권한을 발급한다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F6DF1D0-AF1F-4EAE-A136-9BC059B6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프리셋을 고르고, 자연어로 다시 확인한 뒤 서명한다.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F4FB089-ED8F-4C1F-84F8-9F3F3CB1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3331464" cy="27432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55463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9E758A-65A3-4A95-89CB-6BBDD6EC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C18A53"/>
                </a:solidFill>
              </a:defRPr>
            </a:pPr>
            <a:r>
              <a:rPr sz="1350" b="1">
                <a:solidFill>
                  <a:srgbClr val="C18A53"/>
                </a:solidFill>
                <a:latin typeface="Menlo"/>
                <a:ea typeface="Menlo"/>
                <a:cs typeface="Menlo"/>
              </a:rPr>
              <a:t>발급 흐름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74D973-50A5-464F-B6C8-037C1662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86050"/>
            <a:ext cx="27813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  <a:defRPr sz="1425">
                <a:solidFill>
                  <a:srgbClr val="F1ECE4"/>
                </a:solidFill>
              </a:defRPr>
            </a:pPr>
            <a:r>
              <a:rPr sz="1425" b="1">
                <a:solidFill>
                  <a:srgbClr val="F1ECE4"/>
                </a:solidFill>
                <a:latin typeface="Noto Sans KR"/>
                <a:ea typeface="Noto Sans KR"/>
                <a:cs typeface="Noto Sans KR"/>
              </a:rPr>
              <a:t>01  프리셋 선택
02  한도·가맹점·기한 확인
03  자연어 권한 검토
04  EIP-712 서명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FBCBFF-A8DD-48BE-ABAA-B4C3AE38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828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8736A"/>
                </a:solidFill>
                <a:latin typeface="Noto Sans KR"/>
                <a:ea typeface="Noto Sans KR"/>
                <a:cs typeface="Noto Sans KR"/>
              </a:rPr>
              <a:t>서명은 무료 · 트랜잭션도 가스도 없음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6cc0505cf436d"/>
          <a:stretch xmlns:a="http://schemas.openxmlformats.org/drawingml/2006/main"/>
        </p:blipFill>
        <p:spPr>
          <a:xfrm xmlns:a="http://schemas.openxmlformats.org/drawingml/2006/main">
            <a:off x="5629275" y="2103120"/>
            <a:ext cx="4876800" cy="27432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</p:spTree>
    <p:extLst>
      <p:ext uri="{BB962C8B-B14F-4D97-AF65-F5344CB8AC3E}">
        <p14:creationId xmlns:p14="http://schemas.microsoft.com/office/powerpoint/2010/main" val="1732785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AF40F8-54A4-497C-BE02-E99B8950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POLICY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4CD7B8-5BE2-4DE6-83CE-0B257263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160BA5C-4B9B-46A5-9356-D63D42EF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C7B211-ABDA-486B-A4CC-DD0BE946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네 조건이 모두 통과해야 결제가 실행된다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207019A-B3D2-4CD5-B5FD-3D2A6DEB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4CBD9A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C99BFF7-DC59-4B74-BC59-DD3D76D4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984248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신원  ·  Dojang이 지금도 유효한가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D87820-3A11-43FF-8AC2-9ACF1BB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32888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4CBD9A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845E5DA-5F55-48C4-996E-8BAB3362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551176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한도  ·  이번 결제가 남은 예산 안인가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BCF49F1-8932-4840-BE6D-7964DC52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99816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4CBD9A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C3AC533-BDD2-4630-9B83-CE5D6B3F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18104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수취인  ·  서명된 가맹점 주소인가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F19A774-DCC0-4818-8B68-C6BD2DCC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66744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4CBD9A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81008B-58AD-43FF-81E1-22ECD0E8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85032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기한  ·  아직 만료되지 않았는가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B707989-84B1-4E6F-B0CF-0098D38C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20240"/>
            <a:ext cx="4828032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211F1C"/>
          </a:solidFill>
          <a:ln xmlns:a="http://schemas.openxmlformats.org/drawingml/2006/main" w="9525">
            <a:solidFill>
              <a:srgbClr val="3A373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5C5C42-6C94-4A52-9216-D613B9FD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212848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5484D"/>
                </a:solidFill>
                <a:latin typeface="Noto Sans KR"/>
                <a:ea typeface="Noto Sans KR"/>
                <a:cs typeface="Noto Sans KR"/>
              </a:rPr>
              <a:t>ALL PASS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CA2BEBC-AC72-4734-8759-37E0AE1C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852928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5484D"/>
                </a:solidFill>
                <a:latin typeface="Menlo"/>
                <a:ea typeface="Menlo"/>
                <a:cs typeface="Menlo"/>
              </a:rPr>
              <a:t>결제 실행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92C88D8-6E8E-4A2C-AA24-B1755AC9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735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50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실명 증명이 취소되었다는 이유,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50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그 하나로 결제가 막힌다.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0824267-EA6D-4F95-8DCA-07EFD8D3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43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거부는 실패한 결제가 아니라, 정책이 제대로 작동했다는 증거다.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85D3104-06E5-4D0A-9DC5-9B74BB57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105430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17C73"/>
                </a:solidFill>
                <a:latin typeface="Menlo"/>
                <a:ea typeface="Menlo"/>
                <a:cs typeface="Menlo"/>
              </a:rPr>
              <a:t>실제 신원 취소 상태에서 결제가 거부되는 경로까지 GIWA Sepolia에서 검증했다.</a:t>
            </a:r>
          </a:p>
        </p:txBody>
      </p:sp>
    </p:spTree>
    <p:extLst>
      <p:ext uri="{BB962C8B-B14F-4D97-AF65-F5344CB8AC3E}">
        <p14:creationId xmlns:p14="http://schemas.microsoft.com/office/powerpoint/2010/main" val="875822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2540AA-5C5A-429F-95E4-3FD6B88B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TWO KILL SWITCHES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44F6406-8519-4627-9773-AE56BB8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04B5746-5195-4341-B1D3-FD39AE1D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8F3A6F5-5F85-4323-B4C6-E2636A4C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권한과 신원은 서로 독립된 두 개의 중단 스위치다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A44501-4379-40BE-83E1-3F17FC34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둘 중 하나만 꺼져도 다음 결제부터 즉시 멈춘다. 두 상태 모두 다시 활성화할 수 있다.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38850BE-E8DE-4F59-BD5D-9BB2947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84832"/>
            <a:ext cx="5088636" cy="1627632"/>
          </a:xfrm>
          <a:prstGeom xmlns:a="http://schemas.openxmlformats.org/drawingml/2006/main" prst="roundRect">
            <a:avLst>
              <a:gd name="adj" fmla="val 5056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3A373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40D96E-189A-409C-9532-DDEA3959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7712"/>
            <a:ext cx="36255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권한 비활성화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A3A7F63-6B2E-4967-BC26-B418A212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596" y="2267712"/>
            <a:ext cx="868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E5484D"/>
                </a:solidFill>
                <a:latin typeface="Noto Sans KR"/>
                <a:ea typeface="Noto Sans KR"/>
                <a:cs typeface="Noto Sans KR"/>
              </a:rPr>
              <a:t>STOP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5718E6-F309-481D-A1BA-450931D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6624"/>
            <a:ext cx="44485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5484D"/>
                </a:solidFill>
                <a:latin typeface="Menlo"/>
                <a:ea typeface="Menlo"/>
                <a:cs typeface="Menlo"/>
              </a:rPr>
              <a:t>이 마패만 멈춘다.
Dojang 신원은 그대로 유지된다.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7965A0-D788-42BE-8552-49D35F96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3824"/>
            <a:ext cx="44485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17C73"/>
                </a:solidFill>
                <a:latin typeface="Menlo"/>
                <a:ea typeface="Menlo"/>
                <a:cs typeface="Menlo"/>
              </a:rPr>
              <a:t>발급자가 즉시 통제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610D116-1633-47D7-BEB1-A088C851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2084832"/>
            <a:ext cx="5088636" cy="1627632"/>
          </a:xfrm>
          <a:prstGeom xmlns:a="http://schemas.openxmlformats.org/drawingml/2006/main" prst="roundRect">
            <a:avLst>
              <a:gd name="adj" fmla="val 5056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3224BB-6AA1-4D4D-8CB7-1843E364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96" y="2267712"/>
            <a:ext cx="36255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권한 재활성화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4D1E9C-1E1F-4D88-AC8C-09AF7AD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2267712"/>
            <a:ext cx="868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4CBD9A"/>
                </a:solidFill>
                <a:latin typeface="Noto Sans KR"/>
                <a:ea typeface="Noto Sans KR"/>
                <a:cs typeface="Noto Sans KR"/>
              </a:rPr>
              <a:t>RESUME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D6DB026-A484-4810-8C5B-687C04D8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96" y="2706624"/>
            <a:ext cx="44485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리셋하지 않는다.
남아 있던 한도부터 다시 시작한다.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5FAC07-325A-4230-9A6F-D1A55EC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96" y="3163824"/>
            <a:ext cx="44485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17C73"/>
                </a:solidFill>
                <a:latin typeface="Menlo"/>
                <a:ea typeface="Menlo"/>
                <a:cs typeface="Menlo"/>
              </a:rPr>
              <a:t>같은 권한으로 재개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D8AC257-9521-4288-9705-693D7B5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05072"/>
            <a:ext cx="5088636" cy="1627632"/>
          </a:xfrm>
          <a:prstGeom xmlns:a="http://schemas.openxmlformats.org/drawingml/2006/main" prst="roundRect">
            <a:avLst>
              <a:gd name="adj" fmla="val 5056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3A373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B099526-A815-44E2-B08F-0CF9909F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7952"/>
            <a:ext cx="36255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Dojang 취소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8AEFF9-30E1-4AA7-9FDF-32CF14FA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596" y="4187952"/>
            <a:ext cx="868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E5484D"/>
                </a:solidFill>
                <a:latin typeface="Noto Sans KR"/>
                <a:ea typeface="Noto Sans KR"/>
                <a:cs typeface="Noto Sans KR"/>
              </a:rPr>
              <a:t>STOP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35D6747-7B01-49B3-922C-EAEFF66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6864"/>
            <a:ext cx="44485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5484D"/>
                </a:solidFill>
                <a:latin typeface="Menlo"/>
                <a:ea typeface="Menlo"/>
                <a:cs typeface="Menlo"/>
              </a:rPr>
              <a:t>그 사람이 발급한 모든 마패가
다음 사용부터 멈춘다.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38D0951-D9A4-4C1E-91BD-C63A4390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4064"/>
            <a:ext cx="44485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17C73"/>
                </a:solidFill>
                <a:latin typeface="Menlo"/>
                <a:ea typeface="Menlo"/>
                <a:cs typeface="Menlo"/>
              </a:rPr>
              <a:t>신원 상태가 전역 스위치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9FC1167-1539-48C9-92C3-B171EE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4005072"/>
            <a:ext cx="5088636" cy="1627632"/>
          </a:xfrm>
          <a:prstGeom xmlns:a="http://schemas.openxmlformats.org/drawingml/2006/main" prst="roundRect">
            <a:avLst>
              <a:gd name="adj" fmla="val 5056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9CED8C9-C823-434B-9925-51C8CBD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96" y="4187952"/>
            <a:ext cx="36255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Dojang 재발급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EB4B96A-8CBF-4C2B-B26E-833A8AD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4187952"/>
            <a:ext cx="868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4CBD9A"/>
                </a:solidFill>
                <a:latin typeface="Noto Sans KR"/>
                <a:ea typeface="Noto Sans KR"/>
                <a:cs typeface="Noto Sans KR"/>
              </a:rPr>
              <a:t>RESUME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7379203-0420-44B0-A2B1-B9B2E4DD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96" y="4626864"/>
            <a:ext cx="44485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신원이 회복되면
활성 권한을 다시 사용할 수 있다.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5C5B7A0-0E50-469D-8B98-C18A48D8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96" y="5084064"/>
            <a:ext cx="44485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17C73"/>
                </a:solidFill>
                <a:latin typeface="Menlo"/>
                <a:ea typeface="Menlo"/>
                <a:cs typeface="Menlo"/>
              </a:rPr>
              <a:t>발급기관이 신뢰를 복구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6896164-2010-403D-9E13-9EC102E9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105430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D9AB77"/>
                </a:solidFill>
                <a:latin typeface="Noto Sans KR"/>
                <a:ea typeface="Noto Sans KR"/>
                <a:cs typeface="Noto Sans KR"/>
              </a:rPr>
              <a:t>권한 하나를 끄는 스위치와, 한 사람의 모든 권한을 멈추는 스위치가 함께 있다.</a:t>
            </a:r>
          </a:p>
        </p:txBody>
      </p:sp>
    </p:spTree>
    <p:extLst>
      <p:ext uri="{BB962C8B-B14F-4D97-AF65-F5344CB8AC3E}">
        <p14:creationId xmlns:p14="http://schemas.microsoft.com/office/powerpoint/2010/main" val="1839961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EC43F3D-E2AA-4581-BF2F-C4B4CC7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ARCHITECTURE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97BB1C2-544C-40A4-AEFB-D9DC4063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120253-D305-4EB0-8696-34C7BE1E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16E45D-78B1-43E4-B94B-0374AF3B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사람은 서명하고, Agent는 요청하며,
Chain이 검증하고, Account가 지불한다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0C0DF54-72C3-4AFE-8FE6-DA6CEED8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228600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8F8F88F-926A-4AFC-860D-1A368533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8483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사람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AB47C18-294F-46A0-A74B-D7AC9E6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05456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Dojang + 정책 서명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2DF9BC3-6A63-4DE5-9329-A2A29B37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964" y="228600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B9845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5D2809F-6CC7-4795-B112-0373C619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874520"/>
            <a:ext cx="228600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211F1C"/>
          </a:solidFill>
          <a:ln xmlns:a="http://schemas.openxmlformats.org/drawingml/2006/main" w="9525">
            <a:solidFill>
              <a:srgbClr val="6B452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B63D2D-5666-4E9E-AADA-6E7F1CC5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208483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9AB77"/>
                </a:solidFill>
                <a:latin typeface="Noto Sans KR"/>
                <a:ea typeface="Noto Sans KR"/>
                <a:cs typeface="Noto Sans KR"/>
              </a:rPr>
              <a:t>Agent / x402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DB1033-B900-4ADD-9F40-A9A8075F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2505456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서명된 권한 제출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24F362A-2175-4033-A5EC-0B9FC84B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308" y="228600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B9845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2AADF34-07E6-4275-B738-E52E8AA8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874520"/>
            <a:ext cx="228600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9FB43C0-EEB4-4F67-BAF8-7CBA5D2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8483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DelegationManager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8F15DC4-4DC6-437E-B63A-3B3C551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505456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조건 묶음 검증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7A1CC0D-6659-4D14-91F0-11AB63C6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652" y="2286000"/>
            <a:ext cx="411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B9845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A0E5E96-96B0-4C14-82AD-84484B66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1874520"/>
            <a:ext cx="228600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87B7B8-D56A-4CFC-8A94-969B14A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08483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MapaeAccount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D636807-F8C3-48D0-9298-1925BFFA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505456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허용된 결제만 실행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C9A6DB7-F023-4D61-8B1C-BE86192A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10543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정책 조건   Dojang 신원  ∧  금액 한도  ∧  수취인  ∧  만료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578AF64-5CD6-4E40-B5C4-2C37C720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78224"/>
            <a:ext cx="10543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프론트·AI·정산자는 정책을 보관하거나 임의로 바꿀 수 없다.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BA248EA-7C3C-4B6A-A07B-CB7E3F3D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0288"/>
            <a:ext cx="10543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실행과 거부 결과는 같은 체인 위에 남는다.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C87DE7A-D26F-472E-BF0C-804F9C3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GIWA Chain · ERC-7710 · x402</a:t>
            </a:r>
          </a:p>
        </p:txBody>
      </p:sp>
    </p:spTree>
    <p:extLst>
      <p:ext uri="{BB962C8B-B14F-4D97-AF65-F5344CB8AC3E}">
        <p14:creationId xmlns:p14="http://schemas.microsoft.com/office/powerpoint/2010/main" val="334049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2CE6CB1-DEF6-40F5-9211-DB046F1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X402 SETTLEMENT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7DCB8-6133-4C3A-9EA7-DB614FEE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CA5C623-BB2D-436F-88E8-EC6B55F3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4E6ED64-409A-4C8E-86E4-59CC3031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x402가 결제를 운반하고,
Mapae가 권한을 결정한다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4D6AECF-D4C8-4BC5-B06C-9539375A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에이전트가 유료 API를 만나면 사람을 다시 호출하지 않고 결제한다.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AFDE595-69B5-4337-8839-EC3C9361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810512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48B45C-22E9-4860-ADE5-703E1F90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81051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B3AEA3"/>
                </a:solidFill>
                <a:latin typeface="Menlo"/>
                <a:ea typeface="Menlo"/>
                <a:cs typeface="Menlo"/>
              </a:rPr>
              <a:t>402 응답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EC4425C-8714-4F43-AD99-7A2F13C8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267712"/>
            <a:ext cx="48234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C594D8E-D31A-4778-B458-6DC70ADB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2103120"/>
            <a:ext cx="1810512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918A9B8-2FCB-446C-B88F-93120EC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2103120"/>
            <a:ext cx="181051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Mapae 포함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8C5A29B-EBF7-4141-9146-1DFBBB2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738" y="2267712"/>
            <a:ext cx="48234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58A0CEB-27A8-4B44-82C3-3FBD76D3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2103120"/>
            <a:ext cx="1810512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1E395CC-5B91-40E9-9CCB-F4F1CB0B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2103120"/>
            <a:ext cx="181051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B3AEA3"/>
                </a:solidFill>
                <a:latin typeface="Menlo"/>
                <a:ea typeface="Menlo"/>
                <a:cs typeface="Menlo"/>
              </a:rPr>
              <a:t>온체인 검증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F3C3189-6CA6-40FD-A817-EC4535C3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868" y="2267712"/>
            <a:ext cx="48234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35FB47-4E57-49F5-9FB5-89C1025E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03120"/>
            <a:ext cx="1810512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11F1C"/>
          </a:solidFill>
          <a:ln xmlns:a="http://schemas.openxmlformats.org/drawingml/2006/main" w="9525">
            <a:solidFill>
              <a:srgbClr val="6B452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1898A5F-A9D8-408E-8CC7-38D76292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03120"/>
            <a:ext cx="181051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D9AB77"/>
                </a:solidFill>
                <a:latin typeface="Menlo"/>
                <a:ea typeface="Menlo"/>
                <a:cs typeface="Menlo"/>
              </a:rPr>
              <a:t>정산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17BD172-9549-4183-8AD7-A35D5375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998" y="2267712"/>
            <a:ext cx="48234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7D3418-19CD-436C-8676-EC4943EC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103120"/>
            <a:ext cx="1810512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11F1C"/>
          </a:solidFill>
          <a:ln xmlns:a="http://schemas.openxmlformats.org/drawingml/2006/main" w="9525">
            <a:solidFill>
              <a:srgbClr val="6B452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24E649C-4492-4CD0-AF0E-0C18ECB5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103120"/>
            <a:ext cx="181051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D9AB77"/>
                </a:solidFill>
                <a:latin typeface="Menlo"/>
                <a:ea typeface="Menlo"/>
                <a:cs typeface="Menlo"/>
              </a:rPr>
              <a:t>API 응답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A308030-EAD7-411F-9AB6-051E7B8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1054303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같은 권한으로 20,000 + 20,000 mKRW 결제 성공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DAF057A-38AB-410D-A631-F8280D59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105430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17C73"/>
                </a:solidFill>
                <a:latin typeface="Menlo"/>
                <a:ea typeface="Menlo"/>
                <a:cs typeface="Menlo"/>
              </a:rPr>
              <a:t>세 번째 요청은 50,000 mKRW 한도를 넘겨 거부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6BDB578-2C5F-4663-9620-7D078D8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26280"/>
            <a:ext cx="105430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정산자는 가스를 내지만, 자금과 정책을 보관하지 않는다.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804DE90-0C3B-4394-9956-2D2D664A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01768"/>
            <a:ext cx="105430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반복 결제가 가능해 API·구독·컴퓨트 비용에 자연스럽다.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6C2956E-35B9-4CE0-AEA2-E55A0ED1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77256"/>
            <a:ext cx="105430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에이전트는 payload만 전달하고, 허용 여부는 GIWA가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487778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045E3E-90FF-43C5-BCED-4DA08F2D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AGENT EXPERIENCE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3CFA99-313E-4F2D-9D8C-C3FF2124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9066B1-7D02-40F3-A469-0ACA279F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2EE9391-FE27-45B8-AF8E-91A8C8B1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AI는 지갑이 아니라,
다섯 가지 권한 도구를 사용한다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8B03650-4D9D-4689-81C8-91632283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475488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11F1C"/>
          </a:solidFill>
          <a:ln xmlns:a="http://schemas.openxmlformats.org/drawingml/2006/main" w="9525">
            <a:solidFill>
              <a:srgbClr val="3A3731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F33D2B-ED0F-4FEF-ADEE-7C32967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691640"/>
            <a:ext cx="43891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9E4DA"/>
                </a:solidFill>
                <a:latin typeface="Menlo"/>
                <a:ea typeface="Menlo"/>
                <a:cs typeface="Menlo"/>
              </a:rPr>
              <a:t>Mapae tools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C540BF-6C1C-45F8-8243-EB603AD4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810512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MCP를 통해 어떤 에이전트에서도 동일하게 사용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AEDCD63-79BB-4E82-9DEB-EECB66FD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9AB77"/>
                </a:solidFill>
                <a:latin typeface="Menlo"/>
                <a:ea typeface="Menlo"/>
                <a:cs typeface="Menlo"/>
              </a:rPr>
              <a:t>권한 요청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979F99A-0B23-429F-B78C-FA897A30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15184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사람에게 서명할 정책을 보여준다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DA04AB-1CC1-469C-96BA-C9EBF047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9AB77"/>
                </a:solidFill>
                <a:latin typeface="Menlo"/>
                <a:ea typeface="Menlo"/>
                <a:cs typeface="Menlo"/>
              </a:rPr>
              <a:t>권한 불러오기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2BC2D4-4F4B-4CDC-B4C7-0DC96EC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72384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서명된 마패를 대화 안으로 가져온다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1DF7C67-F629-4475-A57C-81CBB950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9AB77"/>
                </a:solidFill>
                <a:latin typeface="Menlo"/>
                <a:ea typeface="Menlo"/>
                <a:cs typeface="Menlo"/>
              </a:rPr>
              <a:t>결제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2B4B04-F6A2-4049-918B-D88BC38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529584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서명된 범위 안에서만 실행한다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6E938C4-9684-4DC2-B2A1-6B1B94E8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9AB77"/>
                </a:solidFill>
                <a:latin typeface="Menlo"/>
                <a:ea typeface="Menlo"/>
                <a:cs typeface="Menlo"/>
              </a:rPr>
              <a:t>예산 확인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0D35F2D-D191-45DE-A4CC-B7C828A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986784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남은 한도와 만료를 읽는다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B79A3E2-4AE7-4E76-A353-DD869E77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9AB77"/>
                </a:solidFill>
                <a:latin typeface="Menlo"/>
                <a:ea typeface="Menlo"/>
                <a:cs typeface="Menlo"/>
              </a:rPr>
              <a:t>재위임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1F9DF8B-2065-4EB7-9C13-0030F654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443984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더 좁은 권한만 하위 에이전트에 준다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5AFD9DB-7262-4744-AB2D-C6863111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56048"/>
            <a:ext cx="6035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817C73"/>
                </a:solidFill>
                <a:latin typeface="Menlo"/>
                <a:ea typeface="Menlo"/>
                <a:cs typeface="Menlo"/>
              </a:rPr>
              <a:t>발급은 사람이 한다. AI는 권한을 요청하고 사용할 뿐이다.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F4A7988-600A-4267-A823-A9FB344D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06040"/>
            <a:ext cx="4416552" cy="265176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211F1C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DC917D-16BE-4E0F-A254-CB0F1801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88920"/>
            <a:ext cx="39776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  <a:defRPr sz="1350">
                <a:solidFill>
                  <a:srgbClr val="F1ECE4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F1ECE4"/>
                </a:solidFill>
                <a:latin typeface="Menlo"/>
                <a:ea typeface="Menlo"/>
                <a:cs typeface="Menlo"/>
              </a:rPr>
              <a:t>PAID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817C73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  <a:defRPr sz="1350">
                <a:solidFill>
                  <a:srgbClr val="F1ECE4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F1ECE4"/>
                </a:solidFill>
                <a:latin typeface="Menlo"/>
                <a:ea typeface="Menlo"/>
                <a:cs typeface="Menlo"/>
              </a:rPr>
              <a:t>남은 한도  13,000 mKRW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817C73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  <a:defRPr sz="1350">
                <a:solidFill>
                  <a:srgbClr val="F1ECE4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F1ECE4"/>
                </a:solidFill>
                <a:latin typeface="Menlo"/>
                <a:ea typeface="Menlo"/>
                <a:cs typeface="Menlo"/>
              </a:rPr>
              <a:t>REFUSED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817C73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  <a:defRPr sz="1350">
                <a:solidFill>
                  <a:srgbClr val="F1ECE4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F1ECE4"/>
                </a:solidFill>
                <a:latin typeface="Menlo"/>
                <a:ea typeface="Menlo"/>
                <a:cs typeface="Menlo"/>
              </a:rPr>
              <a:t>거부 이유  한도 초과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6FA2963-06C7-4DA9-8A05-FD892566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349240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거부도 에이전트가 읽고 사람에게 설명할 수 있는 결과다.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EE1B565-9620-4AB1-AC08-0152FFF4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43600"/>
            <a:ext cx="105430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D9AB77"/>
                </a:solidFill>
                <a:latin typeface="Noto Sans KR"/>
                <a:ea typeface="Noto Sans KR"/>
                <a:cs typeface="Noto Sans KR"/>
              </a:rPr>
              <a:t>수취인은 프롬프트가 아니라 서명된 정책에서 나온다. 다른 주소로 바꿀 수 없다.</a:t>
            </a:r>
          </a:p>
        </p:txBody>
      </p:sp>
    </p:spTree>
    <p:extLst>
      <p:ext uri="{BB962C8B-B14F-4D97-AF65-F5344CB8AC3E}">
        <p14:creationId xmlns:p14="http://schemas.microsoft.com/office/powerpoint/2010/main" val="21290601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D18335-5E57-4D51-A8C0-FB7D1CD2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VERIFIED ON GIWA SEPOLIA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6BE8DB5-441C-4E64-892A-8F53C7A0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9F192E-13FC-4D70-86C1-B2CEAB06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A8BE49D-3CB1-4961-AE1C-92019225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성공과 거부를 모두 공개 테스트넷에서 증명했다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74BA21-31A8-4734-89FE-647FE88F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236143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5B1D5B5-F47A-44B2-BCB1-A7537833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15768"/>
            <a:ext cx="231571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배포·소스 검증
컨트랙트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0758C4-6809-420A-AFF8-E3214F3E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18" y="1874520"/>
            <a:ext cx="236143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153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1977015-A398-4F98-8A78-A6DD844C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18" y="2715768"/>
            <a:ext cx="231571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테스트
invariant 포함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D89ED57-D309-4E63-8F32-520EFBA6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1874520"/>
            <a:ext cx="236143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20 / 14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7350B0-560B-412C-AE56-2E9CE8EE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2715768"/>
            <a:ext cx="231571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실제 결제
성공 / 거부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B5D8071-3611-45C9-8F8C-883AE0A7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234" y="1874520"/>
            <a:ext cx="236143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D9AB77"/>
                </a:solidFill>
                <a:latin typeface="Noto Sans KR"/>
                <a:ea typeface="Noto Sans KR"/>
                <a:cs typeface="Noto Sans KR"/>
              </a:rPr>
              <a:t>0 / 0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99C94B-4F84-4C8D-86CC-EC1F516D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234" y="2715768"/>
            <a:ext cx="231571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Slither
High / Medium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F43CCF3-6766-4466-8471-3783E19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95750"/>
            <a:ext cx="10543032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  <a:defRPr sz="1500">
                <a:solidFill>
                  <a:srgbClr val="F1ECE4"/>
                </a:solidFill>
              </a:defRPr>
            </a:pPr>
            <a:r>
              <a:rPr sz="1500" b="1">
                <a:solidFill>
                  <a:srgbClr val="F1ECE4"/>
                </a:solidFill>
                <a:latin typeface="Noto Sans KR"/>
                <a:ea typeface="Noto Sans KR"/>
                <a:cs typeface="Noto Sans KR"/>
              </a:rPr>
              <a:t>거부 사유까지 조건 단위로 추적된다. 데모의 핵심은 ‘결제가 된다’가 아니라, 정책 밖의 결제가 정확히 멈춘다는 것이다.</a:t>
            </a:r>
          </a:p>
        </p:txBody>
      </p:sp>
    </p:spTree>
    <p:extLst>
      <p:ext uri="{BB962C8B-B14F-4D97-AF65-F5344CB8AC3E}">
        <p14:creationId xmlns:p14="http://schemas.microsoft.com/office/powerpoint/2010/main" val="402441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54E38E-C82C-4B72-845F-928B7CFF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WHERE IT STARTS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402399-BB31-4583-95BB-47369593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1A5E1D-E781-456D-B1E2-E6C8511F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80FDF3-3FC9-42BF-B417-0180EFC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첫 시장은 ‘AI가 대신 쓰는 돈’을
통제해야 하는 곳이다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A003AA-AFBA-4E1C-8BF3-7F249B16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Mapae는 카드 앱이 아니라, 사람·AI·서비스에 실행 권한을 발급하는 레이어다.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3DECE15-6323-4215-8EC8-350B4305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5088636" cy="1261872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B56EEC9-B68B-4F94-BC0B-E8C377A5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450592"/>
            <a:ext cx="45034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API · 컴퓨트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E82F01-EA7A-4C91-8C9F-3B1EED5F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816352"/>
            <a:ext cx="45034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에이전트가 모델·데이터·인프라 비용을 예산 안에서 자동 결제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61D45DA-6A78-422A-BF99-BDC135CD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2286000"/>
            <a:ext cx="5088636" cy="1261872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4F75F8-717B-4AC2-AEBB-5318CEFB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964" y="2450592"/>
            <a:ext cx="45034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법인 경비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44D0742-07DD-4838-B1CF-199AFB17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964" y="2816352"/>
            <a:ext cx="45034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부서·역할·재직 상태에 연결된 구독과 반복 지출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56E393F-1B09-41AE-84E6-3C57EB02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67328"/>
            <a:ext cx="5088636" cy="1261872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42746E-29A9-4E03-A9ED-1BCAD20A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931920"/>
            <a:ext cx="45034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프로젝트 예산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E92E94-D040-426F-AD4B-49C781A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297680"/>
            <a:ext cx="45034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가맹점·비용센터·기간을 정한 캠페인과 운영비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3D14106-A7C5-4962-AA56-D8ECA363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356" y="3767328"/>
            <a:ext cx="5088636" cy="1261872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EF8C383-DA8E-4134-ADA6-A427D41C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964" y="3931920"/>
            <a:ext cx="45034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적격 결제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6BB0CE-C87C-4ABB-A7DF-0B1118E2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964" y="4297680"/>
            <a:ext cx="45034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검증된 성인·회원·적격 사용자에게만 허용되는 서비스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CC8E611-01B6-49FC-BB6C-7D891806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77840"/>
            <a:ext cx="10543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Dojang attestation이 늘어날수록 새로운 권한 조건을 enforcer 하나로 추가할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7197136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E848FD-0F39-4C5A-9BD3-8F982BB3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B98450"/>
                </a:solidFill>
                <a:latin typeface="Menlo"/>
                <a:ea typeface="Menlo"/>
                <a:cs typeface="Menlo"/>
              </a:rPr>
              <a:t>// PHASE 2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BD85DC4-EC59-481A-AF35-AC1847D9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64556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35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263E56-0719-4FE2-AF93-96F687F5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633679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17C73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76237F-CA98-42BF-86E3-E8A90419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41248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GIWA Wallet 안의 실제 권한 흐름으로 완성하겠습니다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AD7F410-AC72-4CAF-9A66-56C2261B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3246120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D9A46F2-92CE-4C7E-B843-7BB52725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38528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9AB77"/>
                </a:solidFill>
                <a:latin typeface="Menlo"/>
                <a:ea typeface="Menlo"/>
                <a:cs typeface="Menlo"/>
              </a:rPr>
              <a:t>01  WALLET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23BA0C-C70A-4ADF-80DA-361F2368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49424"/>
            <a:ext cx="2697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기와 월렛팀과 ERC-7715 스위치 협의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x402 결제를 MCP pay에 통합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DA33F74-D013-4EC2-9BC1-5F26A2E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1783080"/>
            <a:ext cx="3246120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09B325F-A9A8-42E3-AB18-ACCB72C8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938528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9AB77"/>
                </a:solidFill>
                <a:latin typeface="Menlo"/>
                <a:ea typeface="Menlo"/>
                <a:cs typeface="Menlo"/>
              </a:rPr>
              <a:t>02  IDENTITY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893320-BD35-43A1-AF16-08AA44C2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249424"/>
            <a:ext cx="2697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도장 조회 API 공개 — GIWA 최초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Ponder 인덱서 가동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D54BA2-7C87-480E-B279-1538286D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783080"/>
            <a:ext cx="3246120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191815"/>
          </a:solidFill>
          <a:ln xmlns:a="http://schemas.openxmlformats.org/drawingml/2006/main" w="9525">
            <a:solidFill>
              <a:srgbClr val="2B292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20B4A6F-6818-487B-9703-545F5ECE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938528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9AB77"/>
                </a:solidFill>
                <a:latin typeface="Menlo"/>
                <a:ea typeface="Menlo"/>
                <a:cs typeface="Menlo"/>
              </a:rPr>
              <a:t>03  PILOT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1DABE99-73A7-4A79-8B29-4FE9C54C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49424"/>
            <a:ext cx="2697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코호트 팀 연동 · SDK 마찰 제거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5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KBW 데모데이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635A9A1-837E-43DF-A479-9EC50E36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10128"/>
            <a:ext cx="105430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17C73"/>
                </a:solidFill>
                <a:latin typeface="Noto Sans KR"/>
                <a:ea typeface="Noto Sans KR"/>
                <a:cs typeface="Noto Sans KR"/>
              </a:rPr>
              <a:t>우리가 원하는 협업: GIWA Wallet 통합 · Dojang 발급자 연동 · 첫 merchant/API 파일럿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93305C2-9994-426A-8881-FBF3B0B3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105430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권한은 이미 서명·검증·취소·정산된다. Phase 2에서는 이 흐름을 GIWA의 기본 경험으로 만든다.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1D517BB-D89A-4D83-B921-CAEA8106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105430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E4DA"/>
                </a:solidFill>
                <a:latin typeface="Noto Sans KR"/>
                <a:ea typeface="Noto Sans KR"/>
                <a:cs typeface="Noto Sans KR"/>
              </a:rPr>
              <a:t>AI에게 돈을 맡기는 가장 안전한 방법은,
돈이 아니라 제한된 권한만 맡기는 것입니다.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EB537BF-B323-4B3A-8F0D-55BDC3B9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87782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700">
                <a:solidFill>
                  <a:srgbClr val="B3AEA3"/>
                </a:solidFill>
                <a:latin typeface="Noto Sans KR"/>
                <a:ea typeface="Noto Sans KR"/>
                <a:cs typeface="Noto Sans KR"/>
              </a:rPr>
              <a:t>MAPAE  ·  BOUNDED AUTHORITY FOR AI PAYMENTS</a:t>
            </a:r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24ea7cf5c4d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97312" y="5120640"/>
            <a:ext cx="777240" cy="777240"/>
          </a:xfrm>
          <a:prstGeom xmlns:a="http://schemas.openxmlformats.org/drawingml/2006/main" prst="rect">
            <a:avLst/>
          </a:prstGeom>
        </p:spPr>
      </p:pic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9430B80-1687-44C8-8D20-F4605A79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105430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17C73"/>
                </a:solidFill>
                <a:latin typeface="Menlo"/>
                <a:ea typeface="Menlo"/>
                <a:cs typeface="Menlo"/>
              </a:rPr>
              <a:t>mapae.pages.dev   ·   npx mapae-mcp   ·   github.com/GrapeInTheTree/mapae</a:t>
            </a:r>
          </a:p>
        </p:txBody>
      </p:sp>
    </p:spTree>
    <p:extLst>
      <p:ext uri="{BB962C8B-B14F-4D97-AF65-F5344CB8AC3E}">
        <p14:creationId xmlns:p14="http://schemas.microsoft.com/office/powerpoint/2010/main" val="13228448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2026-07-31T01:32:05.7250000Z</dcterms:created>
  <dcterms:modified xsi:type="dcterms:W3CDTF">2026-07-31T01:32:05.7250000Z</dcterms:modified>
</coreProperties>
</file>